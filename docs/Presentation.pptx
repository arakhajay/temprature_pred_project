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31"/>
        </a:solidFill>
      </p:bgPr>
    </p:bg>
    <p:spTree>
      <p:nvGrpSpPr>
        <p:cNvPr id="1" name=""/>
        <p:cNvGrpSpPr/>
        <p:nvPr/>
      </p:nvGrpSpPr>
      <p:grpSpPr>
        <a:xfrm>
          <a:off x="0" y="0"/>
          <a:ext cx="0" cy="0"/>
          <a:chOff x="0" y="0"/>
          <a:chExt cx="0" cy="0"/>
        </a:xfrm>
      </p:grpSpPr>
      <p:sp>
        <p:nvSpPr>
          <p:cNvPr id="2" name="Shape 0"/>
          <p:cNvSpPr/>
          <p:nvPr/>
        </p:nvSpPr>
        <p:spPr>
          <a:xfrm>
            <a:off x="5943600" y="914400"/>
            <a:ext cx="182880" cy="3200400"/>
          </a:xfrm>
          <a:prstGeom prst="rect">
            <a:avLst/>
          </a:prstGeom>
          <a:solidFill>
            <a:srgbClr val="0D9488">
              <a:alpha val="70000"/>
            </a:srgbClr>
          </a:solidFill>
          <a:ln w="12700">
            <a:solidFill>
              <a:srgbClr val="333333"/>
            </a:solidFill>
            <a:prstDash val="solid"/>
          </a:ln>
        </p:spPr>
      </p:sp>
      <p:sp>
        <p:nvSpPr>
          <p:cNvPr id="3" name="Shape 1"/>
          <p:cNvSpPr/>
          <p:nvPr/>
        </p:nvSpPr>
        <p:spPr>
          <a:xfrm>
            <a:off x="6400800" y="1188720"/>
            <a:ext cx="182880" cy="2743200"/>
          </a:xfrm>
          <a:prstGeom prst="rect">
            <a:avLst/>
          </a:prstGeom>
          <a:solidFill>
            <a:srgbClr val="0D9488">
              <a:alpha val="55000"/>
            </a:srgbClr>
          </a:solidFill>
          <a:ln w="12700">
            <a:solidFill>
              <a:srgbClr val="333333"/>
            </a:solidFill>
            <a:prstDash val="solid"/>
          </a:ln>
        </p:spPr>
      </p:sp>
      <p:sp>
        <p:nvSpPr>
          <p:cNvPr id="4" name="Shape 2"/>
          <p:cNvSpPr/>
          <p:nvPr/>
        </p:nvSpPr>
        <p:spPr>
          <a:xfrm>
            <a:off x="6858000" y="1463040"/>
            <a:ext cx="182880" cy="2286000"/>
          </a:xfrm>
          <a:prstGeom prst="rect">
            <a:avLst/>
          </a:prstGeom>
          <a:solidFill>
            <a:srgbClr val="0D9488">
              <a:alpha val="40000"/>
            </a:srgbClr>
          </a:solidFill>
          <a:ln w="12700">
            <a:solidFill>
              <a:srgbClr val="333333"/>
            </a:solidFill>
            <a:prstDash val="solid"/>
          </a:ln>
        </p:spPr>
      </p:sp>
      <p:sp>
        <p:nvSpPr>
          <p:cNvPr id="5" name="Shape 3"/>
          <p:cNvSpPr/>
          <p:nvPr/>
        </p:nvSpPr>
        <p:spPr>
          <a:xfrm>
            <a:off x="7315200" y="1737360"/>
            <a:ext cx="182880" cy="1828800"/>
          </a:xfrm>
          <a:prstGeom prst="rect">
            <a:avLst/>
          </a:prstGeom>
          <a:solidFill>
            <a:srgbClr val="0D9488">
              <a:alpha val="25000"/>
            </a:srgbClr>
          </a:solidFill>
          <a:ln w="12700">
            <a:solidFill>
              <a:srgbClr val="333333"/>
            </a:solidFill>
            <a:prstDash val="solid"/>
          </a:ln>
        </p:spPr>
      </p:sp>
      <p:sp>
        <p:nvSpPr>
          <p:cNvPr id="6" name="Shape 4"/>
          <p:cNvSpPr/>
          <p:nvPr/>
        </p:nvSpPr>
        <p:spPr>
          <a:xfrm>
            <a:off x="7772400" y="2011680"/>
            <a:ext cx="182880" cy="1371600"/>
          </a:xfrm>
          <a:prstGeom prst="rect">
            <a:avLst/>
          </a:prstGeom>
          <a:solidFill>
            <a:srgbClr val="0D9488">
              <a:alpha val="10000"/>
            </a:srgbClr>
          </a:solidFill>
          <a:ln w="12700">
            <a:solidFill>
              <a:srgbClr val="333333"/>
            </a:solidFill>
            <a:prstDash val="solid"/>
          </a:ln>
        </p:spPr>
      </p:sp>
      <p:sp>
        <p:nvSpPr>
          <p:cNvPr id="7" name="Shape 5"/>
          <p:cNvSpPr/>
          <p:nvPr/>
        </p:nvSpPr>
        <p:spPr>
          <a:xfrm>
            <a:off x="5029200" y="2560320"/>
            <a:ext cx="2286000" cy="0"/>
          </a:xfrm>
          <a:prstGeom prst="line">
            <a:avLst/>
          </a:prstGeom>
          <a:noFill/>
          <a:ln w="25400">
            <a:solidFill>
              <a:srgbClr val="E0F2FE"/>
            </a:solidFill>
            <a:prstDash val="dash"/>
          </a:ln>
        </p:spPr>
      </p:sp>
      <p:sp>
        <p:nvSpPr>
          <p:cNvPr id="8" name="Shape 6"/>
          <p:cNvSpPr/>
          <p:nvPr/>
        </p:nvSpPr>
        <p:spPr>
          <a:xfrm>
            <a:off x="4572000" y="1828800"/>
            <a:ext cx="1828800" cy="0"/>
          </a:xfrm>
          <a:prstGeom prst="line">
            <a:avLst/>
          </a:prstGeom>
          <a:noFill/>
          <a:ln w="19050">
            <a:solidFill>
              <a:srgbClr val="E0F2FE"/>
            </a:solidFill>
            <a:prstDash val="dash"/>
          </a:ln>
        </p:spPr>
      </p:sp>
      <p:sp>
        <p:nvSpPr>
          <p:cNvPr id="9" name="Text 7"/>
          <p:cNvSpPr/>
          <p:nvPr/>
        </p:nvSpPr>
        <p:spPr>
          <a:xfrm>
            <a:off x="731520" y="1097280"/>
            <a:ext cx="4572000" cy="146304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OPC UA TEMPERATURE</a:t>
            </a:r>
            <a:endParaRPr lang="en-US" sz="3200" dirty="0"/>
          </a:p>
          <a:p>
            <a:pPr indent="0" marL="0">
              <a:buNone/>
            </a:pPr>
            <a:r>
              <a:rPr lang="en-US" sz="3200" b="1" dirty="0">
                <a:solidFill>
                  <a:srgbClr val="FFFFFF"/>
                </a:solidFill>
                <a:latin typeface="Trebuchet MS" pitchFamily="34" charset="0"/>
                <a:ea typeface="Trebuchet MS" pitchFamily="34" charset="-122"/>
                <a:cs typeface="Trebuchet MS" pitchFamily="34" charset="-120"/>
              </a:rPr>
              <a:t>ALARM PREDICTOR</a:t>
            </a:r>
            <a:endParaRPr lang="en-US" sz="3200" dirty="0"/>
          </a:p>
        </p:txBody>
      </p:sp>
      <p:sp>
        <p:nvSpPr>
          <p:cNvPr id="10" name="Text 8"/>
          <p:cNvSpPr/>
          <p:nvPr/>
        </p:nvSpPr>
        <p:spPr>
          <a:xfrm>
            <a:off x="731520" y="2743200"/>
            <a:ext cx="4572000" cy="365760"/>
          </a:xfrm>
          <a:prstGeom prst="rect">
            <a:avLst/>
          </a:prstGeom>
          <a:noFill/>
          <a:ln/>
        </p:spPr>
        <p:txBody>
          <a:bodyPr wrap="square" lIns="0" tIns="0" rIns="0" bIns="0" rtlCol="0" anchor="ctr"/>
          <a:lstStyle/>
          <a:p>
            <a:pPr indent="0" marL="0">
              <a:buNone/>
            </a:pPr>
            <a:r>
              <a:rPr lang="en-US" sz="1600" i="1" dirty="0">
                <a:solidFill>
                  <a:srgbClr val="E0F2FE"/>
                </a:solidFill>
                <a:latin typeface="Calibri" pitchFamily="34" charset="0"/>
                <a:ea typeface="Calibri" pitchFamily="34" charset="-122"/>
                <a:cs typeface="Calibri" pitchFamily="34" charset="-120"/>
              </a:rPr>
              <a:t>Early Warning System for Tag 03TIC_1023.PV</a:t>
            </a:r>
            <a:endParaRPr lang="en-US" sz="1600" dirty="0"/>
          </a:p>
        </p:txBody>
      </p:sp>
      <p:sp>
        <p:nvSpPr>
          <p:cNvPr id="11" name="Text 9"/>
          <p:cNvSpPr/>
          <p:nvPr/>
        </p:nvSpPr>
        <p:spPr>
          <a:xfrm>
            <a:off x="731520" y="3840480"/>
            <a:ext cx="4114800" cy="548640"/>
          </a:xfrm>
          <a:prstGeom prst="rect">
            <a:avLst/>
          </a:prstGeom>
          <a:noFill/>
          <a:ln/>
        </p:spPr>
        <p:txBody>
          <a:bodyPr wrap="square" lIns="0" tIns="0" rIns="0" bIns="0" rtlCol="0" anchor="ctr"/>
          <a:lstStyle/>
          <a:p>
            <a:pPr indent="0" marL="0">
              <a:buNone/>
            </a:pPr>
            <a:r>
              <a:rPr lang="en-US" sz="1100" b="1" dirty="0">
                <a:solidFill>
                  <a:srgbClr val="9CA3AF"/>
                </a:solidFill>
                <a:latin typeface="Calibri" pitchFamily="34" charset="0"/>
                <a:ea typeface="Calibri" pitchFamily="34" charset="-122"/>
                <a:cs typeface="Calibri" pitchFamily="34" charset="-120"/>
              </a:rPr>
              <a:t>Prepared by: </a:t>
            </a:r>
            <a:pPr indent="0" marL="0">
              <a:buNone/>
            </a:pPr>
            <a:r>
              <a:rPr lang="en-US" sz="1100" dirty="0">
                <a:solidFill>
                  <a:srgbClr val="9CA3AF"/>
                </a:solidFill>
                <a:latin typeface="Calibri" pitchFamily="34" charset="0"/>
                <a:ea typeface="Calibri" pitchFamily="34" charset="-122"/>
                <a:cs typeface="Calibri" pitchFamily="34" charset="-120"/>
              </a:rPr>
              <a:t>Data Science &amp; Process Analytics Team
</a:t>
            </a:r>
            <a:pPr indent="0" marL="0">
              <a:buNone/>
            </a:pPr>
            <a:r>
              <a:rPr lang="en-US" sz="1100" b="1" dirty="0">
                <a:solidFill>
                  <a:srgbClr val="9CA3AF"/>
                </a:solidFill>
                <a:latin typeface="Calibri" pitchFamily="34" charset="0"/>
                <a:ea typeface="Calibri" pitchFamily="34" charset="-122"/>
                <a:cs typeface="Calibri" pitchFamily="34" charset="-120"/>
              </a:rPr>
              <a:t>Date: </a:t>
            </a:r>
            <a:pPr indent="0" marL="0">
              <a:buNone/>
            </a:pPr>
            <a:r>
              <a:rPr lang="en-US" sz="1100" dirty="0">
                <a:solidFill>
                  <a:srgbClr val="9CA3AF"/>
                </a:solidFill>
                <a:latin typeface="Calibri" pitchFamily="34" charset="0"/>
                <a:ea typeface="Calibri" pitchFamily="34" charset="-122"/>
                <a:cs typeface="Calibri" pitchFamily="34" charset="-120"/>
              </a:rPr>
              <a:t>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Business Problem &amp; Objectives</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A1931"/>
          </a:solidFill>
          <a:ln w="12700">
            <a:solidFill>
              <a:srgbClr val="333333"/>
            </a:solidFill>
            <a:prstDash val="solid"/>
          </a:ln>
        </p:spPr>
      </p:sp>
      <p:sp>
        <p:nvSpPr>
          <p:cNvPr id="5" name="Text 3"/>
          <p:cNvSpPr/>
          <p:nvPr/>
        </p:nvSpPr>
        <p:spPr>
          <a:xfrm>
            <a:off x="822960" y="137160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The Cost of Over-Temperature</a:t>
            </a:r>
            <a:endParaRPr lang="en-US" sz="2000" dirty="0"/>
          </a:p>
        </p:txBody>
      </p:sp>
      <p:sp>
        <p:nvSpPr>
          <p:cNvPr id="6" name="Text 4"/>
          <p:cNvSpPr/>
          <p:nvPr/>
        </p:nvSpPr>
        <p:spPr>
          <a:xfrm>
            <a:off x="822960" y="1828800"/>
            <a:ext cx="3200400" cy="2651760"/>
          </a:xfrm>
          <a:prstGeom prst="rect">
            <a:avLst/>
          </a:prstGeom>
          <a:noFill/>
          <a:ln/>
        </p:spPr>
        <p:txBody>
          <a:bodyPr wrap="square" lIns="0" tIns="0" rIns="0" bIns="0" rtlCol="0" anchor="ctr"/>
          <a:lstStyle/>
          <a:p>
            <a:pPr indent="0" marL="0">
              <a:buNone/>
            </a:pPr>
            <a:r>
              <a:rPr lang="en-US" sz="1400" b="1" dirty="0">
                <a:solidFill>
                  <a:srgbClr val="0A1931"/>
                </a:solidFill>
                <a:latin typeface="Calibri" pitchFamily="34" charset="0"/>
                <a:ea typeface="Calibri" pitchFamily="34" charset="-122"/>
                <a:cs typeface="Calibri" pitchFamily="34" charset="-120"/>
              </a:rPr>
              <a:t>Process Trips &amp; Downtime
</a:t>
            </a:r>
            <a:pPr indent="0" marL="0">
              <a:buNone/>
            </a:pPr>
            <a:r>
              <a:rPr lang="en-US" sz="1100" dirty="0">
                <a:solidFill>
                  <a:srgbClr val="374151"/>
                </a:solidFill>
                <a:latin typeface="Calibri" pitchFamily="34" charset="0"/>
                <a:ea typeface="Calibri" pitchFamily="34" charset="-122"/>
                <a:cs typeface="Calibri" pitchFamily="34" charset="-120"/>
              </a:rPr>
              <a:t>Sudden high temperature spikes cross critical safety limits, forcing immediate plant shutdown and costly unplanned downtime.
</a:t>
            </a:r>
            <a:pPr indent="0" marL="0">
              <a:buNone/>
            </a:pPr>
            <a:r>
              <a:rPr lang="en-US" sz="1400" b="1" dirty="0">
                <a:solidFill>
                  <a:srgbClr val="0A1931"/>
                </a:solidFill>
                <a:latin typeface="Calibri" pitchFamily="34" charset="0"/>
                <a:ea typeface="Calibri" pitchFamily="34" charset="-122"/>
                <a:cs typeface="Calibri" pitchFamily="34" charset="-120"/>
              </a:rPr>
              <a:t>Equipment Degradation
</a:t>
            </a:r>
            <a:pPr indent="0" marL="0">
              <a:buNone/>
            </a:pPr>
            <a:r>
              <a:rPr lang="en-US" sz="1100" dirty="0">
                <a:solidFill>
                  <a:srgbClr val="374151"/>
                </a:solidFill>
                <a:latin typeface="Calibri" pitchFamily="34" charset="0"/>
                <a:ea typeface="Calibri" pitchFamily="34" charset="-122"/>
                <a:cs typeface="Calibri" pitchFamily="34" charset="-120"/>
              </a:rPr>
              <a:t>Sustained temperature upsets (&gt;21.0°C) degrade column packing and overhead condensers, increasing maintenance overhead.
</a:t>
            </a:r>
            <a:pPr indent="0" marL="0">
              <a:buNone/>
            </a:pPr>
            <a:r>
              <a:rPr lang="en-US" sz="1400" b="1" dirty="0">
                <a:solidFill>
                  <a:srgbClr val="0A1931"/>
                </a:solidFill>
                <a:latin typeface="Calibri" pitchFamily="34" charset="0"/>
                <a:ea typeface="Calibri" pitchFamily="34" charset="-122"/>
                <a:cs typeface="Calibri" pitchFamily="34" charset="-120"/>
              </a:rPr>
              <a:t>Operator Alarm Fatigue
</a:t>
            </a:r>
            <a:pPr indent="0" marL="0">
              <a:buNone/>
            </a:pPr>
            <a:r>
              <a:rPr lang="en-US" sz="1100" dirty="0">
                <a:solidFill>
                  <a:srgbClr val="374151"/>
                </a:solidFill>
                <a:latin typeface="Calibri" pitchFamily="34" charset="0"/>
                <a:ea typeface="Calibri" pitchFamily="34" charset="-122"/>
                <a:cs typeface="Calibri" pitchFamily="34" charset="-120"/>
              </a:rPr>
              <a:t>Traditional threshold alarms trigger too late and spike too often. Operators need proactive warning to take preventative action.</a:t>
            </a:r>
            <a:endParaRPr lang="en-US" sz="1400" dirty="0"/>
          </a:p>
        </p:txBody>
      </p:sp>
      <p:sp>
        <p:nvSpPr>
          <p:cNvPr id="7" name="Text 5"/>
          <p:cNvSpPr/>
          <p:nvPr/>
        </p:nvSpPr>
        <p:spPr>
          <a:xfrm>
            <a:off x="4754880" y="1188720"/>
            <a:ext cx="384048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Transitioning from Reactive to Proactive</a:t>
            </a:r>
            <a:endParaRPr lang="en-US" sz="2000" dirty="0"/>
          </a:p>
        </p:txBody>
      </p:sp>
      <p:sp>
        <p:nvSpPr>
          <p:cNvPr id="8" name="Shape 6"/>
          <p:cNvSpPr/>
          <p:nvPr/>
        </p:nvSpPr>
        <p:spPr>
          <a:xfrm>
            <a:off x="4754880" y="1645920"/>
            <a:ext cx="3840480" cy="731520"/>
          </a:xfrm>
          <a:prstGeom prst="rect">
            <a:avLst/>
          </a:prstGeom>
          <a:solidFill>
            <a:srgbClr val="F3F4F6"/>
          </a:solidFill>
          <a:ln w="12700">
            <a:solidFill>
              <a:srgbClr val="9CA3AF"/>
            </a:solidFill>
            <a:prstDash val="solid"/>
          </a:ln>
        </p:spPr>
      </p:sp>
      <p:sp>
        <p:nvSpPr>
          <p:cNvPr id="9" name="Text 7"/>
          <p:cNvSpPr/>
          <p:nvPr/>
        </p:nvSpPr>
        <p:spPr>
          <a:xfrm>
            <a:off x="4937760" y="1737360"/>
            <a:ext cx="3474720" cy="548640"/>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1. Process State Normal</a:t>
            </a:r>
            <a:endParaRPr lang="en-US" sz="1200" dirty="0"/>
          </a:p>
          <a:p>
            <a:pPr indent="0" marL="0">
              <a:buNone/>
            </a:pPr>
            <a:r>
              <a:rPr lang="en-US" sz="1200" dirty="0">
                <a:solidFill>
                  <a:srgbClr val="374151"/>
                </a:solidFill>
                <a:latin typeface="Calibri" pitchFamily="34" charset="0"/>
                <a:ea typeface="Calibri" pitchFamily="34" charset="-122"/>
                <a:cs typeface="Calibri" pitchFamily="34" charset="-120"/>
              </a:rPr>
              <a:t>Overhead temperature is stable (&lt; 21.0°C).</a:t>
            </a:r>
            <a:endParaRPr lang="en-US" sz="1200" dirty="0"/>
          </a:p>
        </p:txBody>
      </p:sp>
      <p:sp>
        <p:nvSpPr>
          <p:cNvPr id="10" name="Text 8"/>
          <p:cNvSpPr/>
          <p:nvPr/>
        </p:nvSpPr>
        <p:spPr>
          <a:xfrm>
            <a:off x="6583680" y="2423160"/>
            <a:ext cx="274320" cy="274320"/>
          </a:xfrm>
          <a:prstGeom prst="rect">
            <a:avLst/>
          </a:prstGeom>
          <a:noFill/>
          <a:ln/>
        </p:spPr>
        <p:txBody>
          <a:bodyPr wrap="square" rtlCol="0" anchor="ctr"/>
          <a:lstStyle/>
          <a:p>
            <a:pPr algn="ctr" indent="0" marL="0">
              <a:buNone/>
            </a:pPr>
            <a:r>
              <a:rPr lang="en-US" sz="1400" dirty="0">
                <a:solidFill>
                  <a:srgbClr val="0D9488"/>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754880" y="2743200"/>
            <a:ext cx="3840480" cy="731520"/>
          </a:xfrm>
          <a:prstGeom prst="rect">
            <a:avLst/>
          </a:prstGeom>
          <a:solidFill>
            <a:srgbClr val="FFFFFF"/>
          </a:solidFill>
          <a:ln w="25400">
            <a:solidFill>
              <a:srgbClr val="0D9488"/>
            </a:solidFill>
            <a:prstDash val="solid"/>
          </a:ln>
          <a:effectLst>
            <a:outerShdw sx="100000" sy="100000" kx="0" ky="0" algn="bl" rotWithShape="0" blurRad="76200" dist="25400" dir="8100000">
              <a:srgbClr val="000000">
                <a:alpha val="15000"/>
              </a:srgbClr>
            </a:outerShdw>
          </a:effectLst>
        </p:spPr>
      </p:sp>
      <p:sp>
        <p:nvSpPr>
          <p:cNvPr id="12" name="Text 10"/>
          <p:cNvSpPr/>
          <p:nvPr/>
        </p:nvSpPr>
        <p:spPr>
          <a:xfrm>
            <a:off x="4937760" y="2834640"/>
            <a:ext cx="3474720" cy="5486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2. ML Predicts Threat (5-60m Horizon)</a:t>
            </a:r>
            <a:endParaRPr lang="en-US" sz="1200" dirty="0"/>
          </a:p>
          <a:p>
            <a:pPr indent="0" marL="0">
              <a:buNone/>
            </a:pPr>
            <a:r>
              <a:rPr lang="en-US" sz="1200" b="1" dirty="0">
                <a:solidFill>
                  <a:srgbClr val="0D9488"/>
                </a:solidFill>
                <a:latin typeface="Calibri" pitchFamily="34" charset="0"/>
                <a:ea typeface="Calibri" pitchFamily="34" charset="-122"/>
                <a:cs typeface="Calibri" pitchFamily="34" charset="-120"/>
              </a:rPr>
              <a:t>Calculates rate of rise; flags impending crossing.</a:t>
            </a:r>
            <a:endParaRPr lang="en-US" sz="1200" dirty="0"/>
          </a:p>
        </p:txBody>
      </p:sp>
      <p:sp>
        <p:nvSpPr>
          <p:cNvPr id="13" name="Text 11"/>
          <p:cNvSpPr/>
          <p:nvPr/>
        </p:nvSpPr>
        <p:spPr>
          <a:xfrm>
            <a:off x="6583680" y="3520440"/>
            <a:ext cx="274320" cy="274320"/>
          </a:xfrm>
          <a:prstGeom prst="rect">
            <a:avLst/>
          </a:prstGeom>
          <a:noFill/>
          <a:ln/>
        </p:spPr>
        <p:txBody>
          <a:bodyPr wrap="square" rtlCol="0" anchor="ctr"/>
          <a:lstStyle/>
          <a:p>
            <a:pPr algn="ctr" indent="0" marL="0">
              <a:buNone/>
            </a:pPr>
            <a:r>
              <a:rPr lang="en-US" sz="1400" dirty="0">
                <a:solidFill>
                  <a:srgbClr val="0D9488"/>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4754880" y="3840480"/>
            <a:ext cx="3840480" cy="731520"/>
          </a:xfrm>
          <a:prstGeom prst="rect">
            <a:avLst/>
          </a:prstGeom>
          <a:solidFill>
            <a:srgbClr val="0A1931"/>
          </a:solidFill>
          <a:ln w="12700">
            <a:solidFill>
              <a:srgbClr val="333333"/>
            </a:solidFill>
            <a:prstDash val="solid"/>
          </a:ln>
        </p:spPr>
      </p:sp>
      <p:sp>
        <p:nvSpPr>
          <p:cNvPr id="15" name="Text 13"/>
          <p:cNvSpPr/>
          <p:nvPr/>
        </p:nvSpPr>
        <p:spPr>
          <a:xfrm>
            <a:off x="4937760" y="3931920"/>
            <a:ext cx="347472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Operator Adjusts Reflux &amp; Feed</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Cooling is increased. Thermal run-up averted.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Data Overview &amp; Sourcing</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Honeywell DCS Historian</a:t>
            </a:r>
            <a:endParaRPr lang="en-US" sz="2000" dirty="0"/>
          </a:p>
        </p:txBody>
      </p:sp>
      <p:sp>
        <p:nvSpPr>
          <p:cNvPr id="6" name="Text 4"/>
          <p:cNvSpPr/>
          <p:nvPr/>
        </p:nvSpPr>
        <p:spPr>
          <a:xfrm>
            <a:off x="822960" y="2011680"/>
            <a:ext cx="3200400" cy="237744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Data Source: </a:t>
            </a:r>
            <a:pPr indent="0" marL="0">
              <a:buNone/>
            </a:pPr>
            <a:r>
              <a:rPr lang="en-US" sz="1300" dirty="0">
                <a:solidFill>
                  <a:srgbClr val="374151"/>
                </a:solidFill>
                <a:latin typeface="Calibri" pitchFamily="34" charset="0"/>
                <a:ea typeface="Calibri" pitchFamily="34" charset="-122"/>
                <a:cs typeface="Calibri" pitchFamily="34" charset="-120"/>
              </a:rPr>
              <a:t>OPC UA Plant Historian database.
</a:t>
            </a:r>
            <a:pPr indent="0" marL="0">
              <a:buNone/>
            </a:pPr>
            <a:r>
              <a:rPr lang="en-US" sz="1300" b="1" dirty="0">
                <a:solidFill>
                  <a:srgbClr val="0A1931"/>
                </a:solidFill>
                <a:latin typeface="Calibri" pitchFamily="34" charset="0"/>
                <a:ea typeface="Calibri" pitchFamily="34" charset="-122"/>
                <a:cs typeface="Calibri" pitchFamily="34" charset="-120"/>
              </a:rPr>
              <a:t>Time Span: </a:t>
            </a:r>
            <a:pPr indent="0" marL="0">
              <a:buNone/>
            </a:pPr>
            <a:r>
              <a:rPr lang="en-US" sz="1300" dirty="0">
                <a:solidFill>
                  <a:srgbClr val="374151"/>
                </a:solidFill>
                <a:latin typeface="Calibri" pitchFamily="34" charset="0"/>
                <a:ea typeface="Calibri" pitchFamily="34" charset="-122"/>
                <a:cs typeface="Calibri" pitchFamily="34" charset="-120"/>
              </a:rPr>
              <a:t>4 continuous years (Jan 2022 to Jan 2026).
</a:t>
            </a:r>
            <a:pPr indent="0" marL="0">
              <a:buNone/>
            </a:pPr>
            <a:r>
              <a:rPr lang="en-US" sz="1300" b="1" dirty="0">
                <a:solidFill>
                  <a:srgbClr val="0A1931"/>
                </a:solidFill>
                <a:latin typeface="Calibri" pitchFamily="34" charset="0"/>
                <a:ea typeface="Calibri" pitchFamily="34" charset="-122"/>
                <a:cs typeface="Calibri" pitchFamily="34" charset="-120"/>
              </a:rPr>
              <a:t>Data Volume: </a:t>
            </a:r>
            <a:pPr indent="0" marL="0">
              <a:buNone/>
            </a:pPr>
            <a:r>
              <a:rPr lang="en-US" sz="1300" dirty="0">
                <a:solidFill>
                  <a:srgbClr val="374151"/>
                </a:solidFill>
                <a:latin typeface="Calibri" pitchFamily="34" charset="0"/>
                <a:ea typeface="Calibri" pitchFamily="34" charset="-122"/>
                <a:cs typeface="Calibri" pitchFamily="34" charset="-120"/>
              </a:rPr>
              <a:t>2,019,221 records (minutes).
</a:t>
            </a:r>
            <a:pPr indent="0" marL="0">
              <a:buNone/>
            </a:pPr>
            <a:r>
              <a:rPr lang="en-US" sz="1300" b="1" dirty="0">
                <a:solidFill>
                  <a:srgbClr val="0A1931"/>
                </a:solidFill>
                <a:latin typeface="Calibri" pitchFamily="34" charset="0"/>
                <a:ea typeface="Calibri" pitchFamily="34" charset="-122"/>
                <a:cs typeface="Calibri" pitchFamily="34" charset="-120"/>
              </a:rPr>
              <a:t>Target Variable: </a:t>
            </a:r>
            <a:pPr indent="0" marL="0">
              <a:buNone/>
            </a:pPr>
            <a:r>
              <a:rPr lang="en-US" sz="1300" dirty="0">
                <a:solidFill>
                  <a:srgbClr val="374151"/>
                </a:solidFill>
                <a:latin typeface="Calibri" pitchFamily="34" charset="0"/>
                <a:ea typeface="Calibri" pitchFamily="34" charset="-122"/>
                <a:cs typeface="Calibri" pitchFamily="34" charset="-120"/>
              </a:rPr>
              <a:t>03TIC_1023.PV (Overhead Temperature in degC).
</a:t>
            </a:r>
            <a:pPr indent="0" marL="0">
              <a:buNone/>
            </a:pPr>
            <a:r>
              <a:rPr lang="en-US" sz="1300" b="1" dirty="0">
                <a:solidFill>
                  <a:srgbClr val="0A1931"/>
                </a:solidFill>
                <a:latin typeface="Calibri" pitchFamily="34" charset="0"/>
                <a:ea typeface="Calibri" pitchFamily="34" charset="-122"/>
                <a:cs typeface="Calibri" pitchFamily="34" charset="-120"/>
              </a:rPr>
              <a:t>Input Features: </a:t>
            </a:r>
            <a:pPr indent="0" marL="0">
              <a:buNone/>
            </a:pPr>
            <a:r>
              <a:rPr lang="en-US" sz="1300" dirty="0">
                <a:solidFill>
                  <a:srgbClr val="374151"/>
                </a:solidFill>
                <a:latin typeface="Calibri" pitchFamily="34" charset="0"/>
                <a:ea typeface="Calibri" pitchFamily="34" charset="-122"/>
                <a:cs typeface="Calibri" pitchFamily="34" charset="-120"/>
              </a:rPr>
              <a:t>19 continuous tags representing pressures, flow rates, and temperatures.</a:t>
            </a:r>
            <a:endParaRPr lang="en-US" sz="1300" dirty="0"/>
          </a:p>
        </p:txBody>
      </p:sp>
      <p:sp>
        <p:nvSpPr>
          <p:cNvPr id="7" name="Text 5"/>
          <p:cNvSpPr/>
          <p:nvPr/>
        </p:nvSpPr>
        <p:spPr>
          <a:xfrm>
            <a:off x="4754880" y="1188720"/>
            <a:ext cx="384048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Sensor Tag Breakdown</a:t>
            </a:r>
            <a:endParaRPr lang="en-US" sz="2000" dirty="0"/>
          </a:p>
        </p:txBody>
      </p:sp>
      <p:sp>
        <p:nvSpPr>
          <p:cNvPr id="8" name="Shape 6"/>
          <p:cNvSpPr/>
          <p:nvPr/>
        </p:nvSpPr>
        <p:spPr>
          <a:xfrm>
            <a:off x="4754880" y="1645920"/>
            <a:ext cx="1737360" cy="1280160"/>
          </a:xfrm>
          <a:prstGeom prst="rect">
            <a:avLst/>
          </a:prstGeom>
          <a:solidFill>
            <a:srgbClr val="FFFFFF"/>
          </a:solidFill>
          <a:ln w="25400">
            <a:solidFill>
              <a:srgbClr val="0D9488"/>
            </a:solidFill>
            <a:prstDash val="solid"/>
          </a:ln>
          <a:effectLst>
            <a:outerShdw sx="100000" sy="100000" kx="0" ky="0" algn="bl" rotWithShape="0" blurRad="76200" dist="25400" dir="8100000">
              <a:srgbClr val="000000">
                <a:alpha val="15000"/>
              </a:srgbClr>
            </a:outerShdw>
          </a:effectLst>
        </p:spPr>
      </p:sp>
      <p:sp>
        <p:nvSpPr>
          <p:cNvPr id="9" name="Text 7"/>
          <p:cNvSpPr/>
          <p:nvPr/>
        </p:nvSpPr>
        <p:spPr>
          <a:xfrm>
            <a:off x="4846320" y="1737360"/>
            <a:ext cx="1554480" cy="109728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TARGET TAG</a:t>
            </a:r>
            <a:endParaRPr lang="en-US" sz="1100" dirty="0"/>
          </a:p>
          <a:p>
            <a:pPr algn="ctr" indent="0" marL="0">
              <a:buNone/>
            </a:pPr>
            <a:endParaRPr lang="en-US" sz="1100" dirty="0"/>
          </a:p>
          <a:p>
            <a:pPr algn="ctr" indent="0" marL="0">
              <a:buNone/>
            </a:pPr>
            <a:r>
              <a:rPr lang="en-US" sz="1100" b="1" dirty="0">
                <a:solidFill>
                  <a:srgbClr val="0D9488"/>
                </a:solidFill>
                <a:latin typeface="Calibri" pitchFamily="34" charset="0"/>
                <a:ea typeface="Calibri" pitchFamily="34" charset="-122"/>
                <a:cs typeface="Calibri" pitchFamily="34" charset="-120"/>
              </a:rPr>
              <a:t>03TIC_1023.PV</a:t>
            </a:r>
            <a:endParaRPr lang="en-US" sz="1100" dirty="0"/>
          </a:p>
          <a:p>
            <a:pPr algn="ctr" indent="0" marL="0">
              <a:buNone/>
            </a:pPr>
            <a:r>
              <a:rPr lang="en-US" sz="1100" b="1" dirty="0">
                <a:solidFill>
                  <a:srgbClr val="0D9488"/>
                </a:solidFill>
                <a:latin typeface="Calibri" pitchFamily="34" charset="0"/>
                <a:ea typeface="Calibri" pitchFamily="34" charset="-122"/>
                <a:cs typeface="Calibri" pitchFamily="34" charset="-120"/>
              </a:rPr>
              <a:t>Overhead Temp</a:t>
            </a:r>
            <a:endParaRPr lang="en-US" sz="1100" dirty="0"/>
          </a:p>
          <a:p>
            <a:pPr algn="ctr" indent="0" marL="0">
              <a:buNone/>
            </a:pPr>
            <a:r>
              <a:rPr lang="en-US" sz="1100" b="1" dirty="0">
                <a:solidFill>
                  <a:srgbClr val="0D9488"/>
                </a:solidFill>
                <a:latin typeface="Calibri" pitchFamily="34" charset="0"/>
                <a:ea typeface="Calibri" pitchFamily="34" charset="-122"/>
                <a:cs typeface="Calibri" pitchFamily="34" charset="-120"/>
              </a:rPr>
              <a:t>(1 tag)</a:t>
            </a:r>
            <a:endParaRPr lang="en-US" sz="1100" dirty="0"/>
          </a:p>
        </p:txBody>
      </p:sp>
      <p:sp>
        <p:nvSpPr>
          <p:cNvPr id="10" name="Shape 8"/>
          <p:cNvSpPr/>
          <p:nvPr/>
        </p:nvSpPr>
        <p:spPr>
          <a:xfrm>
            <a:off x="6766560" y="1645920"/>
            <a:ext cx="1737360" cy="128016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1" name="Text 9"/>
          <p:cNvSpPr/>
          <p:nvPr/>
        </p:nvSpPr>
        <p:spPr>
          <a:xfrm>
            <a:off x="6858000" y="1737360"/>
            <a:ext cx="1554480" cy="1097280"/>
          </a:xfrm>
          <a:prstGeom prst="rect">
            <a:avLst/>
          </a:prstGeom>
          <a:noFill/>
          <a:ln/>
        </p:spPr>
        <p:txBody>
          <a:bodyPr wrap="square" lIns="0" tIns="0" rIns="0" bIns="0" rtlCol="0" anchor="ctr"/>
          <a:lstStyle/>
          <a:p>
            <a:pPr algn="ctr" indent="0" marL="0">
              <a:buNone/>
            </a:pPr>
            <a:r>
              <a:rPr lang="en-US" sz="1100" dirty="0">
                <a:solidFill>
                  <a:srgbClr val="0A1931"/>
                </a:solidFill>
                <a:latin typeface="Calibri" pitchFamily="34" charset="0"/>
                <a:ea typeface="Calibri" pitchFamily="34" charset="-122"/>
                <a:cs typeface="Calibri" pitchFamily="34" charset="-120"/>
              </a:rPr>
              <a:t>TEMPERATURES</a:t>
            </a:r>
            <a:endParaRPr lang="en-US" sz="1100" dirty="0"/>
          </a:p>
          <a:p>
            <a:pPr algn="ctr" indent="0" marL="0">
              <a:buNone/>
            </a:pP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03TI_1024.PV</a:t>
            </a: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03TI_1015.PV</a:t>
            </a: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(15 tags)</a:t>
            </a:r>
            <a:endParaRPr lang="en-US" sz="1100" dirty="0"/>
          </a:p>
        </p:txBody>
      </p:sp>
      <p:sp>
        <p:nvSpPr>
          <p:cNvPr id="12" name="Shape 10"/>
          <p:cNvSpPr/>
          <p:nvPr/>
        </p:nvSpPr>
        <p:spPr>
          <a:xfrm>
            <a:off x="4754880" y="3200400"/>
            <a:ext cx="1737360" cy="128016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3" name="Text 11"/>
          <p:cNvSpPr/>
          <p:nvPr/>
        </p:nvSpPr>
        <p:spPr>
          <a:xfrm>
            <a:off x="4846320" y="3291840"/>
            <a:ext cx="1554480" cy="1097280"/>
          </a:xfrm>
          <a:prstGeom prst="rect">
            <a:avLst/>
          </a:prstGeom>
          <a:noFill/>
          <a:ln/>
        </p:spPr>
        <p:txBody>
          <a:bodyPr wrap="square" lIns="0" tIns="0" rIns="0" bIns="0" rtlCol="0" anchor="ctr"/>
          <a:lstStyle/>
          <a:p>
            <a:pPr algn="ctr" indent="0" marL="0">
              <a:buNone/>
            </a:pPr>
            <a:r>
              <a:rPr lang="en-US" sz="1100" dirty="0">
                <a:solidFill>
                  <a:srgbClr val="0A1931"/>
                </a:solidFill>
                <a:latin typeface="Calibri" pitchFamily="34" charset="0"/>
                <a:ea typeface="Calibri" pitchFamily="34" charset="-122"/>
                <a:cs typeface="Calibri" pitchFamily="34" charset="-120"/>
              </a:rPr>
              <a:t>PRESSURES</a:t>
            </a:r>
            <a:endParaRPr lang="en-US" sz="1100" dirty="0"/>
          </a:p>
          <a:p>
            <a:pPr algn="ctr" indent="0" marL="0">
              <a:buNone/>
            </a:pP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03PIC_1023.PV</a:t>
            </a: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03PIC_1013.PV</a:t>
            </a: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(3 tags)</a:t>
            </a:r>
            <a:endParaRPr lang="en-US" sz="1100" dirty="0"/>
          </a:p>
        </p:txBody>
      </p:sp>
      <p:sp>
        <p:nvSpPr>
          <p:cNvPr id="14" name="Shape 12"/>
          <p:cNvSpPr/>
          <p:nvPr/>
        </p:nvSpPr>
        <p:spPr>
          <a:xfrm>
            <a:off x="6766560" y="3200400"/>
            <a:ext cx="1737360" cy="128016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5" name="Text 13"/>
          <p:cNvSpPr/>
          <p:nvPr/>
        </p:nvSpPr>
        <p:spPr>
          <a:xfrm>
            <a:off x="6858000" y="3291840"/>
            <a:ext cx="1554480" cy="1097280"/>
          </a:xfrm>
          <a:prstGeom prst="rect">
            <a:avLst/>
          </a:prstGeom>
          <a:noFill/>
          <a:ln/>
        </p:spPr>
        <p:txBody>
          <a:bodyPr wrap="square" lIns="0" tIns="0" rIns="0" bIns="0" rtlCol="0" anchor="ctr"/>
          <a:lstStyle/>
          <a:p>
            <a:pPr algn="ctr" indent="0" marL="0">
              <a:buNone/>
            </a:pPr>
            <a:r>
              <a:rPr lang="en-US" sz="1100" dirty="0">
                <a:solidFill>
                  <a:srgbClr val="0A1931"/>
                </a:solidFill>
                <a:latin typeface="Calibri" pitchFamily="34" charset="0"/>
                <a:ea typeface="Calibri" pitchFamily="34" charset="-122"/>
                <a:cs typeface="Calibri" pitchFamily="34" charset="-120"/>
              </a:rPr>
              <a:t>FLOW RATES</a:t>
            </a:r>
            <a:endParaRPr lang="en-US" sz="1100" dirty="0"/>
          </a:p>
          <a:p>
            <a:pPr algn="ctr" indent="0" marL="0">
              <a:buNone/>
            </a:pP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02FI_1000.PV</a:t>
            </a: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Train Feed</a:t>
            </a:r>
            <a:endParaRPr lang="en-US" sz="1100" dirty="0"/>
          </a:p>
          <a:p>
            <a:pPr algn="ctr" indent="0" marL="0">
              <a:buNone/>
            </a:pPr>
            <a:r>
              <a:rPr lang="en-US" sz="1100" dirty="0">
                <a:solidFill>
                  <a:srgbClr val="0A1931"/>
                </a:solidFill>
                <a:latin typeface="Calibri" pitchFamily="34" charset="0"/>
                <a:ea typeface="Calibri" pitchFamily="34" charset="-122"/>
                <a:cs typeface="Calibri" pitchFamily="34" charset="-120"/>
              </a:rPr>
              <a:t>(1 tag)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EDA – Missing Data &amp; Quality Control</a:t>
            </a:r>
            <a:endParaRPr lang="en-US" sz="3600" dirty="0"/>
          </a:p>
        </p:txBody>
      </p:sp>
      <p:sp>
        <p:nvSpPr>
          <p:cNvPr id="3" name="Text 1"/>
          <p:cNvSpPr/>
          <p:nvPr/>
        </p:nvSpPr>
        <p:spPr>
          <a:xfrm>
            <a:off x="548640" y="1188720"/>
            <a:ext cx="41148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Handling Gaps &amp; Ensuring Data Health</a:t>
            </a:r>
            <a:endParaRPr lang="en-US" sz="2000" dirty="0"/>
          </a:p>
        </p:txBody>
      </p:sp>
      <p:sp>
        <p:nvSpPr>
          <p:cNvPr id="4" name="Text 2"/>
          <p:cNvSpPr/>
          <p:nvPr/>
        </p:nvSpPr>
        <p:spPr>
          <a:xfrm>
            <a:off x="548640" y="1645920"/>
            <a:ext cx="3931920" cy="2926080"/>
          </a:xfrm>
          <a:prstGeom prst="rect">
            <a:avLst/>
          </a:prstGeom>
          <a:noFill/>
          <a:ln/>
        </p:spPr>
        <p:txBody>
          <a:bodyPr wrap="square" lIns="0" tIns="0" rIns="0" bIns="0" rtlCol="0" anchor="ctr"/>
          <a:lstStyle/>
          <a:p>
            <a:pPr indent="0" marL="0">
              <a:buNone/>
            </a:pPr>
            <a:r>
              <a:rPr lang="en-US" sz="1400" b="1" dirty="0">
                <a:solidFill>
                  <a:srgbClr val="0A1931"/>
                </a:solidFill>
                <a:latin typeface="Calibri" pitchFamily="34" charset="0"/>
                <a:ea typeface="Calibri" pitchFamily="34" charset="-122"/>
                <a:cs typeface="Calibri" pitchFamily="34" charset="-120"/>
              </a:rPr>
              <a:t>Trip / Shutdown Gaps
</a:t>
            </a:r>
            <a:pPr indent="0" marL="0">
              <a:buNone/>
            </a:pPr>
            <a:r>
              <a:rPr lang="en-US" sz="1200" dirty="0">
                <a:solidFill>
                  <a:srgbClr val="374151"/>
                </a:solidFill>
                <a:latin typeface="Calibri" pitchFamily="34" charset="0"/>
                <a:ea typeface="Calibri" pitchFamily="34" charset="-122"/>
                <a:cs typeface="Calibri" pitchFamily="34" charset="-120"/>
              </a:rPr>
              <a:t>Cross-referencing the 85 shutdown durations confirmed that trip periods had already been removed from the raw parquet data. Gaps remain in the timeline (largest gap = 18.5 days).
</a:t>
            </a:r>
            <a:pPr indent="0" marL="0">
              <a:buNone/>
            </a:pPr>
            <a:r>
              <a:rPr lang="en-US" sz="1400" b="1" dirty="0">
                <a:solidFill>
                  <a:srgbClr val="0A1931"/>
                </a:solidFill>
                <a:latin typeface="Calibri" pitchFamily="34" charset="0"/>
                <a:ea typeface="Calibri" pitchFamily="34" charset="-122"/>
                <a:cs typeface="Calibri" pitchFamily="34" charset="-120"/>
              </a:rPr>
              <a:t>Small-Gap Imputation
</a:t>
            </a:r>
            <a:pPr indent="0" marL="0">
              <a:buNone/>
            </a:pPr>
            <a:r>
              <a:rPr lang="en-US" sz="1200" dirty="0">
                <a:solidFill>
                  <a:srgbClr val="374151"/>
                </a:solidFill>
                <a:latin typeface="Calibri" pitchFamily="34" charset="0"/>
                <a:ea typeface="Calibri" pitchFamily="34" charset="-122"/>
                <a:cs typeface="Calibri" pitchFamily="34" charset="-120"/>
              </a:rPr>
              <a:t>Transient sensor drops of 1-5 minutes were forward-filled. Longer gaps were kept as NaNs to prevent model training on synthetic data.
</a:t>
            </a:r>
            <a:pPr indent="0" marL="0">
              <a:buNone/>
            </a:pPr>
            <a:r>
              <a:rPr lang="en-US" sz="1400" b="1" dirty="0">
                <a:solidFill>
                  <a:srgbClr val="0A1931"/>
                </a:solidFill>
                <a:latin typeface="Calibri" pitchFamily="34" charset="0"/>
                <a:ea typeface="Calibri" pitchFamily="34" charset="-122"/>
                <a:cs typeface="Calibri" pitchFamily="34" charset="-120"/>
              </a:rPr>
              <a:t>Target Tag Quality
</a:t>
            </a:r>
            <a:pPr indent="0" marL="0">
              <a:buNone/>
            </a:pPr>
            <a:r>
              <a:rPr lang="en-US" sz="1200" dirty="0">
                <a:solidFill>
                  <a:srgbClr val="374151"/>
                </a:solidFill>
                <a:latin typeface="Calibri" pitchFamily="34" charset="0"/>
                <a:ea typeface="Calibri" pitchFamily="34" charset="-122"/>
                <a:cs typeface="Calibri" pitchFamily="34" charset="-120"/>
              </a:rPr>
              <a:t>The target column 03TIC_1023.PV is highly complete, containing only 4 missing values across the 4-year period.</a:t>
            </a:r>
            <a:endParaRPr lang="en-US" sz="1400" dirty="0"/>
          </a:p>
        </p:txBody>
      </p:sp>
      <p:sp>
        <p:nvSpPr>
          <p:cNvPr id="5" name="Text 3"/>
          <p:cNvSpPr/>
          <p:nvPr/>
        </p:nvSpPr>
        <p:spPr>
          <a:xfrm>
            <a:off x="4937760" y="1188720"/>
            <a:ext cx="36576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Data Completeness Summary</a:t>
            </a:r>
            <a:endParaRPr lang="en-US" sz="2000" dirty="0"/>
          </a:p>
        </p:txBody>
      </p:sp>
      <p:sp>
        <p:nvSpPr>
          <p:cNvPr id="6" name="Text 4"/>
          <p:cNvSpPr/>
          <p:nvPr/>
        </p:nvSpPr>
        <p:spPr>
          <a:xfrm>
            <a:off x="4937760" y="1645920"/>
            <a:ext cx="3657600" cy="27432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Target Tag (03TIC_1023.PV)</a:t>
            </a:r>
            <a:endParaRPr lang="en-US" sz="1200" dirty="0"/>
          </a:p>
        </p:txBody>
      </p:sp>
      <p:sp>
        <p:nvSpPr>
          <p:cNvPr id="7" name="Shape 5"/>
          <p:cNvSpPr/>
          <p:nvPr/>
        </p:nvSpPr>
        <p:spPr>
          <a:xfrm>
            <a:off x="4937760" y="1965960"/>
            <a:ext cx="3657600" cy="320040"/>
          </a:xfrm>
          <a:prstGeom prst="rect">
            <a:avLst/>
          </a:prstGeom>
          <a:solidFill>
            <a:srgbClr val="F3F4F6"/>
          </a:solidFill>
          <a:ln w="12700">
            <a:solidFill>
              <a:srgbClr val="333333"/>
            </a:solidFill>
            <a:prstDash val="solid"/>
          </a:ln>
        </p:spPr>
      </p:sp>
      <p:sp>
        <p:nvSpPr>
          <p:cNvPr id="8" name="Shape 6"/>
          <p:cNvSpPr/>
          <p:nvPr/>
        </p:nvSpPr>
        <p:spPr>
          <a:xfrm>
            <a:off x="4937760" y="1965960"/>
            <a:ext cx="3656686" cy="320040"/>
          </a:xfrm>
          <a:prstGeom prst="rect">
            <a:avLst/>
          </a:prstGeom>
          <a:solidFill>
            <a:srgbClr val="0D9488"/>
          </a:solidFill>
          <a:ln w="12700">
            <a:solidFill>
              <a:srgbClr val="333333"/>
            </a:solidFill>
            <a:prstDash val="solid"/>
          </a:ln>
        </p:spPr>
      </p:sp>
      <p:sp>
        <p:nvSpPr>
          <p:cNvPr id="9" name="Text 7"/>
          <p:cNvSpPr/>
          <p:nvPr/>
        </p:nvSpPr>
        <p:spPr>
          <a:xfrm>
            <a:off x="5029200" y="1965960"/>
            <a:ext cx="34747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99.9998% (4 missing rows)</a:t>
            </a:r>
            <a:endParaRPr lang="en-US" sz="1100" dirty="0"/>
          </a:p>
        </p:txBody>
      </p:sp>
      <p:sp>
        <p:nvSpPr>
          <p:cNvPr id="10" name="Text 8"/>
          <p:cNvSpPr/>
          <p:nvPr/>
        </p:nvSpPr>
        <p:spPr>
          <a:xfrm>
            <a:off x="4937760" y="2560320"/>
            <a:ext cx="3657600" cy="27432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Highest-Null Tag (03TI_1002.PV)</a:t>
            </a:r>
            <a:endParaRPr lang="en-US" sz="1200" dirty="0"/>
          </a:p>
        </p:txBody>
      </p:sp>
      <p:sp>
        <p:nvSpPr>
          <p:cNvPr id="11" name="Shape 9"/>
          <p:cNvSpPr/>
          <p:nvPr/>
        </p:nvSpPr>
        <p:spPr>
          <a:xfrm>
            <a:off x="4937760" y="2880360"/>
            <a:ext cx="3657600" cy="320040"/>
          </a:xfrm>
          <a:prstGeom prst="rect">
            <a:avLst/>
          </a:prstGeom>
          <a:solidFill>
            <a:srgbClr val="F3F4F6"/>
          </a:solidFill>
          <a:ln w="12700">
            <a:solidFill>
              <a:srgbClr val="333333"/>
            </a:solidFill>
            <a:prstDash val="solid"/>
          </a:ln>
        </p:spPr>
      </p:sp>
      <p:sp>
        <p:nvSpPr>
          <p:cNvPr id="12" name="Shape 10"/>
          <p:cNvSpPr/>
          <p:nvPr/>
        </p:nvSpPr>
        <p:spPr>
          <a:xfrm>
            <a:off x="4937760" y="2880360"/>
            <a:ext cx="3648456" cy="320040"/>
          </a:xfrm>
          <a:prstGeom prst="rect">
            <a:avLst/>
          </a:prstGeom>
          <a:solidFill>
            <a:srgbClr val="0D9488"/>
          </a:solidFill>
          <a:ln w="12700">
            <a:solidFill>
              <a:srgbClr val="333333"/>
            </a:solidFill>
            <a:prstDash val="solid"/>
          </a:ln>
        </p:spPr>
      </p:sp>
      <p:sp>
        <p:nvSpPr>
          <p:cNvPr id="13" name="Text 11"/>
          <p:cNvSpPr/>
          <p:nvPr/>
        </p:nvSpPr>
        <p:spPr>
          <a:xfrm>
            <a:off x="5029200" y="2880360"/>
            <a:ext cx="34747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99.85% (3,041 missing rows)</a:t>
            </a:r>
            <a:endParaRPr lang="en-US" sz="1100" dirty="0"/>
          </a:p>
        </p:txBody>
      </p:sp>
      <p:sp>
        <p:nvSpPr>
          <p:cNvPr id="14" name="Text 12"/>
          <p:cNvSpPr/>
          <p:nvPr/>
        </p:nvSpPr>
        <p:spPr>
          <a:xfrm>
            <a:off x="4937760" y="3474720"/>
            <a:ext cx="3657600" cy="27432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Average Tag Completeness</a:t>
            </a:r>
            <a:endParaRPr lang="en-US" sz="1200" dirty="0"/>
          </a:p>
        </p:txBody>
      </p:sp>
      <p:sp>
        <p:nvSpPr>
          <p:cNvPr id="15" name="Shape 13"/>
          <p:cNvSpPr/>
          <p:nvPr/>
        </p:nvSpPr>
        <p:spPr>
          <a:xfrm>
            <a:off x="4937760" y="3794760"/>
            <a:ext cx="3657600" cy="320040"/>
          </a:xfrm>
          <a:prstGeom prst="rect">
            <a:avLst/>
          </a:prstGeom>
          <a:solidFill>
            <a:srgbClr val="F3F4F6"/>
          </a:solidFill>
          <a:ln w="12700">
            <a:solidFill>
              <a:srgbClr val="333333"/>
            </a:solidFill>
            <a:prstDash val="solid"/>
          </a:ln>
        </p:spPr>
      </p:sp>
      <p:sp>
        <p:nvSpPr>
          <p:cNvPr id="16" name="Shape 14"/>
          <p:cNvSpPr/>
          <p:nvPr/>
        </p:nvSpPr>
        <p:spPr>
          <a:xfrm>
            <a:off x="4937760" y="3794760"/>
            <a:ext cx="3653942" cy="320040"/>
          </a:xfrm>
          <a:prstGeom prst="rect">
            <a:avLst/>
          </a:prstGeom>
          <a:solidFill>
            <a:srgbClr val="0D9488"/>
          </a:solidFill>
          <a:ln w="12700">
            <a:solidFill>
              <a:srgbClr val="333333"/>
            </a:solidFill>
            <a:prstDash val="solid"/>
          </a:ln>
        </p:spPr>
      </p:sp>
      <p:sp>
        <p:nvSpPr>
          <p:cNvPr id="17" name="Text 15"/>
          <p:cNvSpPr/>
          <p:nvPr/>
        </p:nvSpPr>
        <p:spPr>
          <a:xfrm>
            <a:off x="5029200" y="3794760"/>
            <a:ext cx="34747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99.96% average across 19 tags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Advanced Missingness &amp; Imputation Strategy</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Consecutive Null Analysis</a:t>
            </a:r>
            <a:endParaRPr lang="en-US" sz="2000" dirty="0"/>
          </a:p>
        </p:txBody>
      </p:sp>
      <p:sp>
        <p:nvSpPr>
          <p:cNvPr id="6" name="Text 4"/>
          <p:cNvSpPr/>
          <p:nvPr/>
        </p:nvSpPr>
        <p:spPr>
          <a:xfrm>
            <a:off x="822960" y="1920240"/>
            <a:ext cx="3200400" cy="256032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Conditional Imputation Rules:
</a:t>
            </a:r>
            <a:pPr indent="0" marL="0">
              <a:buNone/>
            </a:pPr>
            <a:r>
              <a:rPr lang="en-US" sz="1100" b="1" dirty="0">
                <a:solidFill>
                  <a:srgbClr val="0D9488"/>
                </a:solidFill>
                <a:latin typeface="Calibri" pitchFamily="34" charset="0"/>
                <a:ea typeface="Calibri" pitchFamily="34" charset="-122"/>
                <a:cs typeface="Calibri" pitchFamily="34" charset="-120"/>
              </a:rPr>
              <a:t>• Above 60% total nulls: </a:t>
            </a:r>
            <a:pPr indent="0" marL="0">
              <a:buNone/>
            </a:pPr>
            <a:r>
              <a:rPr lang="en-US" sz="1100" dirty="0">
                <a:solidFill>
                  <a:srgbClr val="374151"/>
                </a:solidFill>
                <a:latin typeface="Calibri" pitchFamily="34" charset="0"/>
                <a:ea typeface="Calibri" pitchFamily="34" charset="-122"/>
                <a:cs typeface="Calibri" pitchFamily="34" charset="-120"/>
              </a:rPr>
              <a:t>Use MICE (Multivariate Imputation by Chained Equations) to capture multi-variable dependencies.
</a:t>
            </a:r>
            <a:pPr indent="0" marL="0">
              <a:buNone/>
            </a:pPr>
            <a:r>
              <a:rPr lang="en-US" sz="1100" b="1" dirty="0">
                <a:solidFill>
                  <a:srgbClr val="0D9488"/>
                </a:solidFill>
                <a:latin typeface="Calibri" pitchFamily="34" charset="0"/>
                <a:ea typeface="Calibri" pitchFamily="34" charset="-122"/>
                <a:cs typeface="Calibri" pitchFamily="34" charset="-120"/>
              </a:rPr>
              <a:t>• Below 60% total nulls: </a:t>
            </a:r>
            <a:pPr indent="0" marL="0">
              <a:buNone/>
            </a:pPr>
            <a:r>
              <a:rPr lang="en-US" sz="1100" dirty="0">
                <a:solidFill>
                  <a:srgbClr val="374151"/>
                </a:solidFill>
                <a:latin typeface="Calibri" pitchFamily="34" charset="0"/>
                <a:ea typeface="Calibri" pitchFamily="34" charset="-122"/>
                <a:cs typeface="Calibri" pitchFamily="34" charset="-120"/>
              </a:rPr>
              <a:t>Use Forward-Fill (limit 5 mins) to propagate the last known state.
</a:t>
            </a:r>
            <a:pPr indent="0" marL="0">
              <a:buNone/>
            </a:pPr>
            <a:r>
              <a:rPr lang="en-US" sz="1300" b="1" dirty="0">
                <a:solidFill>
                  <a:srgbClr val="0A1931"/>
                </a:solidFill>
                <a:latin typeface="Calibri" pitchFamily="34" charset="0"/>
                <a:ea typeface="Calibri" pitchFamily="34" charset="-122"/>
                <a:cs typeface="Calibri" pitchFamily="34" charset="-120"/>
              </a:rPr>
              <a:t>Dataset Application:
</a:t>
            </a:r>
            <a:pPr indent="0" marL="0">
              <a:buNone/>
            </a:pPr>
            <a:r>
              <a:rPr lang="en-US" sz="1100" dirty="0">
                <a:solidFill>
                  <a:srgbClr val="374151"/>
                </a:solidFill>
                <a:latin typeface="Calibri" pitchFamily="34" charset="0"/>
                <a:ea typeface="Calibri" pitchFamily="34" charset="-122"/>
                <a:cs typeface="Calibri" pitchFamily="34" charset="-120"/>
              </a:rPr>
              <a:t>No columns exceeded the 60% MICE threshold (maximum null rate was 0.15% on 03TI_1002.PV). Thus, a 5-minute forward-fill was applied to all tags, resolving all NaNs safely without synthetic bias.</a:t>
            </a:r>
            <a:endParaRPr lang="en-US" sz="1100" dirty="0"/>
          </a:p>
        </p:txBody>
      </p:sp>
      <p:sp>
        <p:nvSpPr>
          <p:cNvPr id="7" name="Text 5"/>
          <p:cNvSpPr/>
          <p:nvPr/>
        </p:nvSpPr>
        <p:spPr>
          <a:xfrm>
            <a:off x="4754880" y="1188720"/>
            <a:ext cx="384048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Top Consecutive Null Episodes</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54880" y="1645920"/>
          <a:ext cx="3840480" cy="2743200"/>
        </p:xfrm>
        <a:graphic>
          <a:graphicData uri="http://schemas.openxmlformats.org/drawingml/2006/table">
            <a:tbl>
              <a:tblPr/>
              <a:tblGrid>
                <a:gridCol w="1188720"/>
                <a:gridCol w="640080"/>
                <a:gridCol w="640080"/>
                <a:gridCol w="640080"/>
                <a:gridCol w="731520"/>
              </a:tblGrid>
              <a:tr h="45720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Sensor Tag</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Episodes</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Max Gap</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Null %</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Imputation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03TI_1002.PV</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2,224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0.1506%</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Forward-Fill</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02FI_1000.PV</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228</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86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0.0331%</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Forward-Fill</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03FIC_1085.PV</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167</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10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0.0156%</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Forward-Fill</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03PDI_1077.PV</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0.0006%</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Forward-Fill</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Others (15 tags)</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≤11 each</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&lt;0.0005%</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Forward-Fill</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EDA – Feature Distributions</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Normal Operating Envelope</a:t>
            </a:r>
            <a:endParaRPr lang="en-US" sz="2000" dirty="0"/>
          </a:p>
        </p:txBody>
      </p:sp>
      <p:sp>
        <p:nvSpPr>
          <p:cNvPr id="6" name="Text 4"/>
          <p:cNvSpPr/>
          <p:nvPr/>
        </p:nvSpPr>
        <p:spPr>
          <a:xfrm>
            <a:off x="822960" y="1920240"/>
            <a:ext cx="3200400" cy="54864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Most of the plant's runtime represents stable, steady-state process operations.</a:t>
            </a:r>
            <a:endParaRPr lang="en-US" sz="1300" dirty="0"/>
          </a:p>
        </p:txBody>
      </p:sp>
      <p:sp>
        <p:nvSpPr>
          <p:cNvPr id="7" name="Text 5"/>
          <p:cNvSpPr/>
          <p:nvPr/>
        </p:nvSpPr>
        <p:spPr>
          <a:xfrm>
            <a:off x="822960" y="2560320"/>
            <a:ext cx="3200400" cy="731520"/>
          </a:xfrm>
          <a:prstGeom prst="rect">
            <a:avLst/>
          </a:prstGeom>
          <a:noFill/>
          <a:ln/>
        </p:spPr>
        <p:txBody>
          <a:bodyPr wrap="square" lIns="0" tIns="0" rIns="0" bIns="0" rtlCol="0" anchor="ctr"/>
          <a:lstStyle/>
          <a:p>
            <a:pPr indent="0" marL="0">
              <a:buNone/>
            </a:pPr>
            <a:r>
              <a:rPr lang="en-US" sz="5400" b="1" dirty="0">
                <a:solidFill>
                  <a:srgbClr val="0D9488"/>
                </a:solidFill>
                <a:latin typeface="Trebuchet MS" pitchFamily="34" charset="0"/>
                <a:ea typeface="Trebuchet MS" pitchFamily="34" charset="-122"/>
                <a:cs typeface="Trebuchet MS" pitchFamily="34" charset="-120"/>
              </a:rPr>
              <a:t>96.89%</a:t>
            </a:r>
            <a:endParaRPr lang="en-US" sz="5400" dirty="0"/>
          </a:p>
        </p:txBody>
      </p:sp>
      <p:sp>
        <p:nvSpPr>
          <p:cNvPr id="8" name="Text 6"/>
          <p:cNvSpPr/>
          <p:nvPr/>
        </p:nvSpPr>
        <p:spPr>
          <a:xfrm>
            <a:off x="822960" y="3383280"/>
            <a:ext cx="3200400" cy="73152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of data points lie within normal bounds (16.5°C to 18.5°C).</a:t>
            </a:r>
            <a:endParaRPr lang="en-US" sz="1300" dirty="0"/>
          </a:p>
        </p:txBody>
      </p:sp>
      <p:sp>
        <p:nvSpPr>
          <p:cNvPr id="9" name="Shape 7"/>
          <p:cNvSpPr/>
          <p:nvPr/>
        </p:nvSpPr>
        <p:spPr>
          <a:xfrm>
            <a:off x="475488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4754880" y="1188720"/>
            <a:ext cx="3749040" cy="73152"/>
          </a:xfrm>
          <a:prstGeom prst="rect">
            <a:avLst/>
          </a:prstGeom>
          <a:solidFill>
            <a:srgbClr val="F96167"/>
          </a:solidFill>
          <a:ln w="12700">
            <a:solidFill>
              <a:srgbClr val="333333"/>
            </a:solidFill>
            <a:prstDash val="solid"/>
          </a:ln>
        </p:spPr>
      </p:sp>
      <p:sp>
        <p:nvSpPr>
          <p:cNvPr id="11" name="Text 9"/>
          <p:cNvSpPr/>
          <p:nvPr/>
        </p:nvSpPr>
        <p:spPr>
          <a:xfrm>
            <a:off x="502920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Alarm &amp; Upset Envelope</a:t>
            </a:r>
            <a:endParaRPr lang="en-US" sz="2000" dirty="0"/>
          </a:p>
        </p:txBody>
      </p:sp>
      <p:sp>
        <p:nvSpPr>
          <p:cNvPr id="12" name="Text 10"/>
          <p:cNvSpPr/>
          <p:nvPr/>
        </p:nvSpPr>
        <p:spPr>
          <a:xfrm>
            <a:off x="5029200" y="1920240"/>
            <a:ext cx="3200400" cy="54864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The alarm state represents a heavily skewed tail when the column accumulates heat.</a:t>
            </a:r>
            <a:endParaRPr lang="en-US" sz="1300" dirty="0"/>
          </a:p>
        </p:txBody>
      </p:sp>
      <p:sp>
        <p:nvSpPr>
          <p:cNvPr id="13" name="Text 11"/>
          <p:cNvSpPr/>
          <p:nvPr/>
        </p:nvSpPr>
        <p:spPr>
          <a:xfrm>
            <a:off x="5029200" y="2560320"/>
            <a:ext cx="3200400" cy="731520"/>
          </a:xfrm>
          <a:prstGeom prst="rect">
            <a:avLst/>
          </a:prstGeom>
          <a:noFill/>
          <a:ln/>
        </p:spPr>
        <p:txBody>
          <a:bodyPr wrap="square" lIns="0" tIns="0" rIns="0" bIns="0" rtlCol="0" anchor="ctr"/>
          <a:lstStyle/>
          <a:p>
            <a:pPr indent="0" marL="0">
              <a:buNone/>
            </a:pPr>
            <a:r>
              <a:rPr lang="en-US" sz="5400" b="1" dirty="0">
                <a:solidFill>
                  <a:srgbClr val="F96167"/>
                </a:solidFill>
                <a:latin typeface="Trebuchet MS" pitchFamily="34" charset="0"/>
                <a:ea typeface="Trebuchet MS" pitchFamily="34" charset="-122"/>
                <a:cs typeface="Trebuchet MS" pitchFamily="34" charset="-120"/>
              </a:rPr>
              <a:t>3.11%</a:t>
            </a:r>
            <a:endParaRPr lang="en-US" sz="5400" dirty="0"/>
          </a:p>
        </p:txBody>
      </p:sp>
      <p:sp>
        <p:nvSpPr>
          <p:cNvPr id="14" name="Text 12"/>
          <p:cNvSpPr/>
          <p:nvPr/>
        </p:nvSpPr>
        <p:spPr>
          <a:xfrm>
            <a:off x="5029200" y="3383280"/>
            <a:ext cx="3200400" cy="731520"/>
          </a:xfrm>
          <a:prstGeom prst="rect">
            <a:avLst/>
          </a:prstGeom>
          <a:noFill/>
          <a:ln/>
        </p:spPr>
        <p:txBody>
          <a:bodyPr wrap="square" lIns="0" tIns="0" rIns="0" bIns="0" rtlCol="0" anchor="ctr"/>
          <a:lstStyle/>
          <a:p>
            <a:pPr indent="0" marL="0">
              <a:buNone/>
            </a:pPr>
            <a:r>
              <a:rPr lang="en-US" sz="1300" dirty="0">
                <a:solidFill>
                  <a:srgbClr val="374151"/>
                </a:solidFill>
                <a:latin typeface="Calibri" pitchFamily="34" charset="0"/>
                <a:ea typeface="Calibri" pitchFamily="34" charset="-122"/>
                <a:cs typeface="Calibri" pitchFamily="34" charset="-120"/>
              </a:rPr>
              <a:t>of data points exceed the PVHI threshold of &gt;= 21.0°C (62,837 rows in alarm).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EDA – Multi-Method Correlation</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371600"/>
            <a:ext cx="3200400" cy="365760"/>
          </a:xfrm>
          <a:prstGeom prst="rect">
            <a:avLst/>
          </a:prstGeom>
          <a:noFill/>
          <a:ln/>
        </p:spPr>
        <p:txBody>
          <a:bodyPr wrap="square" lIns="0" tIns="0" rIns="0" bIns="0" rtlCol="0" anchor="ctr"/>
          <a:lstStyle/>
          <a:p>
            <a:pPr indent="0" marL="0">
              <a:buNone/>
            </a:pPr>
            <a:r>
              <a:rPr lang="en-US" sz="1800" b="1" dirty="0">
                <a:solidFill>
                  <a:srgbClr val="0A1931"/>
                </a:solidFill>
                <a:latin typeface="Trebuchet MS" pitchFamily="34" charset="0"/>
                <a:ea typeface="Trebuchet MS" pitchFamily="34" charset="-122"/>
                <a:cs typeface="Trebuchet MS" pitchFamily="34" charset="-120"/>
              </a:rPr>
              <a:t>Thermodynamic &amp; Non-Linear</a:t>
            </a:r>
            <a:endParaRPr lang="en-US" sz="1800" dirty="0"/>
          </a:p>
        </p:txBody>
      </p:sp>
      <p:sp>
        <p:nvSpPr>
          <p:cNvPr id="6" name="Text 4"/>
          <p:cNvSpPr/>
          <p:nvPr/>
        </p:nvSpPr>
        <p:spPr>
          <a:xfrm>
            <a:off x="822960" y="1828800"/>
            <a:ext cx="3200400" cy="265176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Multi-Method Correlation Approach:
</a:t>
            </a:r>
            <a:pPr indent="0" marL="0">
              <a:buNone/>
            </a:pPr>
            <a:r>
              <a:rPr lang="en-US" sz="950" dirty="0">
                <a:solidFill>
                  <a:srgbClr val="374151"/>
                </a:solidFill>
                <a:latin typeface="Calibri" pitchFamily="34" charset="0"/>
                <a:ea typeface="Calibri" pitchFamily="34" charset="-122"/>
                <a:cs typeface="Calibri" pitchFamily="34" charset="-120"/>
              </a:rPr>
              <a:t>We ran Pearson (linear), Spearman (rank/monotonic), and Distance Correlation (non-linear) pre-imputation to establish clean process relationships.
</a:t>
            </a:r>
            <a:pPr indent="0" marL="0">
              <a:buNone/>
            </a:pPr>
            <a:r>
              <a:rPr lang="en-US" sz="1200" b="1" dirty="0">
                <a:solidFill>
                  <a:srgbClr val="0A1931"/>
                </a:solidFill>
                <a:latin typeface="Calibri" pitchFamily="34" charset="0"/>
                <a:ea typeface="Calibri" pitchFamily="34" charset="-122"/>
                <a:cs typeface="Calibri" pitchFamily="34" charset="-120"/>
              </a:rPr>
              <a:t>Key Discrepancies Found:
</a:t>
            </a:r>
            <a:pPr indent="0" marL="0">
              <a:buNone/>
            </a:pPr>
            <a:r>
              <a:rPr lang="en-US" sz="950" dirty="0">
                <a:solidFill>
                  <a:srgbClr val="374151"/>
                </a:solidFill>
                <a:latin typeface="Calibri" pitchFamily="34" charset="0"/>
                <a:ea typeface="Calibri" pitchFamily="34" charset="-122"/>
                <a:cs typeface="Calibri" pitchFamily="34" charset="-120"/>
              </a:rPr>
              <a:t>• High gaps (&gt;0.30) between Pearson and Spearman (e.g. 03PDI_1077.PV &amp; 03PIC_1068.PV) suggest strong non-linear interactions.
</a:t>
            </a:r>
            <a:pPr indent="0" marL="0">
              <a:buNone/>
            </a:pPr>
            <a:r>
              <a:rPr lang="en-US" sz="950" dirty="0">
                <a:solidFill>
                  <a:srgbClr val="374151"/>
                </a:solidFill>
                <a:latin typeface="Calibri" pitchFamily="34" charset="0"/>
                <a:ea typeface="Calibri" pitchFamily="34" charset="-122"/>
                <a:cs typeface="Calibri" pitchFamily="34" charset="-120"/>
              </a:rPr>
              <a:t>• Distance Correlation confirmed strong statistical dependencies (up to 0.71) that standard linear correlation misses.
</a:t>
            </a:r>
            <a:pPr indent="0" marL="0">
              <a:buNone/>
            </a:pPr>
            <a:r>
              <a:rPr lang="en-US" sz="1200" b="1" dirty="0">
                <a:solidFill>
                  <a:srgbClr val="0A1931"/>
                </a:solidFill>
                <a:latin typeface="Calibri" pitchFamily="34" charset="0"/>
                <a:ea typeface="Calibri" pitchFamily="34" charset="-122"/>
                <a:cs typeface="Calibri" pitchFamily="34" charset="-120"/>
              </a:rPr>
              <a:t>SME Variable Removal Placeholder:
</a:t>
            </a:r>
            <a:pPr indent="0" marL="0">
              <a:buNone/>
            </a:pPr>
            <a:r>
              <a:rPr lang="en-US" sz="950" dirty="0">
                <a:solidFill>
                  <a:srgbClr val="374151"/>
                </a:solidFill>
                <a:latin typeface="Calibri" pitchFamily="34" charset="0"/>
                <a:ea typeface="Calibri" pitchFamily="34" charset="-122"/>
                <a:cs typeface="Calibri" pitchFamily="34" charset="-120"/>
              </a:rPr>
              <a:t>Highly correlated pairs (|r| ≥ 0.80) are extracted for Subject Matter Expert (SME) review to decide on variable removal to prevent model collinearity issues.</a:t>
            </a:r>
            <a:endParaRPr lang="en-US" sz="950" dirty="0"/>
          </a:p>
        </p:txBody>
      </p:sp>
      <p:sp>
        <p:nvSpPr>
          <p:cNvPr id="7" name="Text 5"/>
          <p:cNvSpPr/>
          <p:nvPr/>
        </p:nvSpPr>
        <p:spPr>
          <a:xfrm>
            <a:off x="4754880" y="1097280"/>
            <a:ext cx="384048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Flagged High-Correlation Pairs (|r| ≥ 0.80)</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754880" y="1554480"/>
          <a:ext cx="3840480" cy="2743200"/>
        </p:xfrm>
        <a:graphic>
          <a:graphicData uri="http://schemas.openxmlformats.org/drawingml/2006/table">
            <a:tbl>
              <a:tblPr/>
              <a:tblGrid>
                <a:gridCol w="1463040"/>
                <a:gridCol w="548640"/>
                <a:gridCol w="731520"/>
                <a:gridCol w="548640"/>
                <a:gridCol w="548640"/>
              </a:tblGrid>
              <a:tr h="342900">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Variable Pair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Pearson 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Spearman ρ</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Dist Corr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Type</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r>
              <a:tr h="342900">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03TI_1015.PV &amp; 03TI_1024.PV</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0.9896</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0.9789</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0.9799</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Inter-Var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42900">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03TIC_1023.PV &amp; 03TI_1024.PV</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0.9840</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0.9568</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0.9661</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With Target</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42900">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03TIC_1023.PV &amp; 03TI_1015.PV</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0.9804</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0.9537</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0.9628</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With Target</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42900">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03PIC_1023.PV &amp; 03TI_1015.PV</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0.9796</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0.9643</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0.9648</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Inter-Var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42900">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03PIC_1023.PV &amp; 03TI_1024.PV</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0.9787</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0.9635</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0.9651</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Inter-Var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42900">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02FI_1000.PV &amp; 03PDI_1020.PV</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0.9759</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0.8515</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0.9635</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Inter-Var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42900">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03TI_1002.PV &amp; 03TI_1005.PV</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0.9654</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0.9648</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0.9551</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latin typeface="Calibri" pitchFamily="34" charset="0"/>
                          <a:ea typeface="Calibri" pitchFamily="34" charset="-122"/>
                          <a:cs typeface="Calibri" pitchFamily="34" charset="-120"/>
                        </a:rPr>
                        <a:t>Inter-Var</a:t>
                      </a:r>
                      <a:endParaRPr lang="en-US" sz="8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EDA – Alarm Duration &amp; Chattering Analysis</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A1931"/>
          </a:solidFill>
          <a:ln w="12700">
            <a:solidFill>
              <a:srgbClr val="333333"/>
            </a:solidFill>
            <a:prstDash val="solid"/>
          </a:ln>
        </p:spPr>
      </p:sp>
      <p:sp>
        <p:nvSpPr>
          <p:cNvPr id="5" name="Text 3"/>
          <p:cNvSpPr/>
          <p:nvPr/>
        </p:nvSpPr>
        <p:spPr>
          <a:xfrm>
            <a:off x="822960" y="1280160"/>
            <a:ext cx="3200400" cy="548640"/>
          </a:xfrm>
          <a:prstGeom prst="rect">
            <a:avLst/>
          </a:prstGeom>
          <a:noFill/>
          <a:ln/>
        </p:spPr>
        <p:txBody>
          <a:bodyPr wrap="square" lIns="0" tIns="0" rIns="0" bIns="0" rtlCol="0" anchor="ctr"/>
          <a:lstStyle/>
          <a:p>
            <a:pPr indent="0" marL="0">
              <a:buNone/>
            </a:pPr>
            <a:r>
              <a:rPr lang="en-US" sz="1600" b="1" dirty="0">
                <a:solidFill>
                  <a:srgbClr val="0A1931"/>
                </a:solidFill>
                <a:latin typeface="Trebuchet MS" pitchFamily="34" charset="0"/>
                <a:ea typeface="Trebuchet MS" pitchFamily="34" charset="-122"/>
                <a:cs typeface="Trebuchet MS" pitchFamily="34" charset="-120"/>
              </a:rPr>
              <a:t>Alarm Duration Windowing</a:t>
            </a:r>
            <a:endParaRPr lang="en-US" sz="1600" dirty="0"/>
          </a:p>
        </p:txBody>
      </p:sp>
      <p:sp>
        <p:nvSpPr>
          <p:cNvPr id="6" name="Text 4"/>
          <p:cNvSpPr/>
          <p:nvPr/>
        </p:nvSpPr>
        <p:spPr>
          <a:xfrm>
            <a:off x="822960" y="1920240"/>
            <a:ext cx="3200400" cy="265176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Alarm Duration Characteristics:
</a:t>
            </a:r>
            <a:pPr indent="0" marL="0">
              <a:buNone/>
            </a:pPr>
            <a:r>
              <a:rPr lang="en-US" sz="950" dirty="0">
                <a:solidFill>
                  <a:srgbClr val="374151"/>
                </a:solidFill>
                <a:latin typeface="Calibri" pitchFamily="34" charset="0"/>
                <a:ea typeface="Calibri" pitchFamily="34" charset="-122"/>
                <a:cs typeface="Calibri" pitchFamily="34" charset="-120"/>
              </a:rPr>
              <a:t>We bucketed the 1,561 distinct alarm events to understand process dynamics:
</a:t>
            </a:r>
            <a:pPr indent="0" marL="0">
              <a:buNone/>
            </a:pPr>
            <a:r>
              <a:rPr lang="en-US" sz="950" b="1" dirty="0">
                <a:solidFill>
                  <a:srgbClr val="F96167"/>
                </a:solidFill>
                <a:latin typeface="Calibri" pitchFamily="34" charset="0"/>
                <a:ea typeface="Calibri" pitchFamily="34" charset="-122"/>
                <a:cs typeface="Calibri" pitchFamily="34" charset="-120"/>
              </a:rPr>
              <a:t>• 0-1 min (Sensor Noise/Chattering): </a:t>
            </a:r>
            <a:pPr indent="0" marL="0">
              <a:buNone/>
            </a:pPr>
            <a:r>
              <a:rPr lang="en-US" sz="950" dirty="0">
                <a:solidFill>
                  <a:srgbClr val="374151"/>
                </a:solidFill>
                <a:latin typeface="Calibri" pitchFamily="34" charset="0"/>
                <a:ea typeface="Calibri" pitchFamily="34" charset="-122"/>
                <a:cs typeface="Calibri" pitchFamily="34" charset="-120"/>
              </a:rPr>
              <a:t>304 episodes (19.5% of total events, but only 304 minutes total duration).
</a:t>
            </a:r>
            <a:pPr indent="0" marL="0">
              <a:buNone/>
            </a:pPr>
            <a:r>
              <a:rPr lang="en-US" sz="950" b="1" dirty="0">
                <a:solidFill>
                  <a:srgbClr val="0D9488"/>
                </a:solidFill>
                <a:latin typeface="Calibri" pitchFamily="34" charset="0"/>
                <a:ea typeface="Calibri" pitchFamily="34" charset="-122"/>
                <a:cs typeface="Calibri" pitchFamily="34" charset="-120"/>
              </a:rPr>
              <a:t>• 1-5 min (Short Spikes): </a:t>
            </a:r>
            <a:pPr indent="0" marL="0">
              <a:buNone/>
            </a:pPr>
            <a:r>
              <a:rPr lang="en-US" sz="950" dirty="0">
                <a:solidFill>
                  <a:srgbClr val="374151"/>
                </a:solidFill>
                <a:latin typeface="Calibri" pitchFamily="34" charset="0"/>
                <a:ea typeface="Calibri" pitchFamily="34" charset="-122"/>
                <a:cs typeface="Calibri" pitchFamily="34" charset="-120"/>
              </a:rPr>
              <a:t>291 episodes (18.6% of events, 881 mins total).
</a:t>
            </a:r>
            <a:pPr indent="0" marL="0">
              <a:buNone/>
            </a:pPr>
            <a:r>
              <a:rPr lang="en-US" sz="950" b="1" dirty="0">
                <a:solidFill>
                  <a:srgbClr val="0D9488"/>
                </a:solidFill>
                <a:latin typeface="Calibri" pitchFamily="34" charset="0"/>
                <a:ea typeface="Calibri" pitchFamily="34" charset="-122"/>
                <a:cs typeface="Calibri" pitchFamily="34" charset="-120"/>
              </a:rPr>
              <a:t>• 5-15 min (Moderate Upsets): </a:t>
            </a:r>
            <a:pPr indent="0" marL="0">
              <a:buNone/>
            </a:pPr>
            <a:r>
              <a:rPr lang="en-US" sz="950" dirty="0">
                <a:solidFill>
                  <a:srgbClr val="374151"/>
                </a:solidFill>
                <a:latin typeface="Calibri" pitchFamily="34" charset="0"/>
                <a:ea typeface="Calibri" pitchFamily="34" charset="-122"/>
                <a:cs typeface="Calibri" pitchFamily="34" charset="-120"/>
              </a:rPr>
              <a:t>240 episodes (15.4% of events, 2,265 mins total).
</a:t>
            </a:r>
            <a:pPr indent="0" marL="0">
              <a:buNone/>
            </a:pPr>
            <a:r>
              <a:rPr lang="en-US" sz="950" b="1" dirty="0">
                <a:solidFill>
                  <a:srgbClr val="0A1931"/>
                </a:solidFill>
                <a:latin typeface="Calibri" pitchFamily="34" charset="0"/>
                <a:ea typeface="Calibri" pitchFamily="34" charset="-122"/>
                <a:cs typeface="Calibri" pitchFamily="34" charset="-120"/>
              </a:rPr>
              <a:t>• 15-60 min (Significant Upsets): </a:t>
            </a:r>
            <a:pPr indent="0" marL="0">
              <a:buNone/>
            </a:pPr>
            <a:r>
              <a:rPr lang="en-US" sz="950" dirty="0">
                <a:solidFill>
                  <a:srgbClr val="374151"/>
                </a:solidFill>
                <a:latin typeface="Calibri" pitchFamily="34" charset="0"/>
                <a:ea typeface="Calibri" pitchFamily="34" charset="-122"/>
                <a:cs typeface="Calibri" pitchFamily="34" charset="-120"/>
              </a:rPr>
              <a:t>142 episodes (9.1% of events, 4,023 mins total).
</a:t>
            </a:r>
            <a:pPr indent="0" marL="0">
              <a:buNone/>
            </a:pPr>
            <a:r>
              <a:rPr lang="en-US" sz="950" b="1" dirty="0">
                <a:solidFill>
                  <a:srgbClr val="0A1931"/>
                </a:solidFill>
                <a:latin typeface="Calibri" pitchFamily="34" charset="0"/>
                <a:ea typeface="Calibri" pitchFamily="34" charset="-122"/>
                <a:cs typeface="Calibri" pitchFamily="34" charset="-120"/>
              </a:rPr>
              <a:t>• 60+ min (Sustained Thermal Events): </a:t>
            </a:r>
            <a:pPr indent="0" marL="0">
              <a:buNone/>
            </a:pPr>
            <a:r>
              <a:rPr lang="en-US" sz="950" dirty="0">
                <a:solidFill>
                  <a:srgbClr val="374151"/>
                </a:solidFill>
                <a:latin typeface="Calibri" pitchFamily="34" charset="0"/>
                <a:ea typeface="Calibri" pitchFamily="34" charset="-122"/>
                <a:cs typeface="Calibri" pitchFamily="34" charset="-120"/>
              </a:rPr>
              <a:t>214 episodes (13.7% of events, 53,829 mins total). This accounts for 87% of all alarm downtime, driven by major thermal upsets of 8-9 hours.</a:t>
            </a:r>
            <a:endParaRPr lang="en-US" sz="950" dirty="0"/>
          </a:p>
        </p:txBody>
      </p:sp>
      <p:sp>
        <p:nvSpPr>
          <p:cNvPr id="7" name="Shape 5"/>
          <p:cNvSpPr/>
          <p:nvPr/>
        </p:nvSpPr>
        <p:spPr>
          <a:xfrm>
            <a:off x="4754880" y="1188720"/>
            <a:ext cx="384048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840480" cy="73152"/>
          </a:xfrm>
          <a:prstGeom prst="rect">
            <a:avLst/>
          </a:prstGeom>
          <a:solidFill>
            <a:srgbClr val="0D9488"/>
          </a:solidFill>
          <a:ln w="12700">
            <a:solidFill>
              <a:srgbClr val="333333"/>
            </a:solidFill>
            <a:prstDash val="solid"/>
          </a:ln>
        </p:spPr>
      </p:sp>
      <p:sp>
        <p:nvSpPr>
          <p:cNvPr id="9" name="Text 7"/>
          <p:cNvSpPr/>
          <p:nvPr/>
        </p:nvSpPr>
        <p:spPr>
          <a:xfrm>
            <a:off x="5029200" y="1280160"/>
            <a:ext cx="3291840" cy="548640"/>
          </a:xfrm>
          <a:prstGeom prst="rect">
            <a:avLst/>
          </a:prstGeom>
          <a:noFill/>
          <a:ln/>
        </p:spPr>
        <p:txBody>
          <a:bodyPr wrap="square" lIns="0" tIns="0" rIns="0" bIns="0" rtlCol="0" anchor="ctr"/>
          <a:lstStyle/>
          <a:p>
            <a:pPr indent="0" marL="0">
              <a:buNone/>
            </a:pPr>
            <a:r>
              <a:rPr lang="en-US" sz="1600" b="1" dirty="0">
                <a:solidFill>
                  <a:srgbClr val="0A1931"/>
                </a:solidFill>
                <a:latin typeface="Trebuchet MS" pitchFamily="34" charset="0"/>
                <a:ea typeface="Trebuchet MS" pitchFamily="34" charset="-122"/>
                <a:cs typeface="Trebuchet MS" pitchFamily="34" charset="-120"/>
              </a:rPr>
              <a:t>Chattering Detection &amp; Noise Isolation</a:t>
            </a:r>
            <a:endParaRPr lang="en-US" sz="1600" dirty="0"/>
          </a:p>
        </p:txBody>
      </p:sp>
      <p:sp>
        <p:nvSpPr>
          <p:cNvPr id="10" name="Text 8"/>
          <p:cNvSpPr/>
          <p:nvPr/>
        </p:nvSpPr>
        <p:spPr>
          <a:xfrm>
            <a:off x="5029200" y="1920240"/>
            <a:ext cx="3291840" cy="265176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Operational Noise Definition:
</a:t>
            </a:r>
            <a:pPr indent="0" marL="0">
              <a:buNone/>
            </a:pPr>
            <a:r>
              <a:rPr lang="en-US" sz="1000" dirty="0">
                <a:solidFill>
                  <a:srgbClr val="374151"/>
                </a:solidFill>
                <a:latin typeface="Calibri" pitchFamily="34" charset="0"/>
                <a:ea typeface="Calibri" pitchFamily="34" charset="-122"/>
                <a:cs typeface="Calibri" pitchFamily="34" charset="-120"/>
              </a:rPr>
              <a:t>Chattering is defined as brief alarm crossings (≤1 min) separated by less than 5 minutes of normal operation. These represent control loop noise rather than structural plant upsets.
</a:t>
            </a:r>
            <a:pPr indent="0" marL="0">
              <a:buNone/>
            </a:pPr>
            <a:r>
              <a:rPr lang="en-US" sz="1200" b="1" dirty="0">
                <a:solidFill>
                  <a:srgbClr val="0D9488"/>
                </a:solidFill>
                <a:latin typeface="Calibri" pitchFamily="34" charset="0"/>
                <a:ea typeface="Calibri" pitchFamily="34" charset="-122"/>
                <a:cs typeface="Calibri" pitchFamily="34" charset="-120"/>
              </a:rPr>
              <a:t>Chattering Summary:
</a:t>
            </a:r>
            <a:pPr indent="0" marL="0">
              <a:buNone/>
            </a:pPr>
            <a:r>
              <a:rPr lang="en-US" sz="1000" b="1" dirty="0">
                <a:solidFill>
                  <a:srgbClr val="F96167"/>
                </a:solidFill>
                <a:latin typeface="Calibri" pitchFamily="34" charset="0"/>
                <a:ea typeface="Calibri" pitchFamily="34" charset="-122"/>
                <a:cs typeface="Calibri" pitchFamily="34" charset="-120"/>
              </a:rPr>
              <a:t>• Total Chattering Sequences: </a:t>
            </a:r>
            <a:pPr indent="0" marL="0">
              <a:buNone/>
            </a:pPr>
            <a:r>
              <a:rPr lang="en-US" sz="1000" dirty="0">
                <a:solidFill>
                  <a:srgbClr val="374151"/>
                </a:solidFill>
                <a:latin typeface="Calibri" pitchFamily="34" charset="0"/>
                <a:ea typeface="Calibri" pitchFamily="34" charset="-122"/>
                <a:cs typeface="Calibri" pitchFamily="34" charset="-120"/>
              </a:rPr>
              <a:t>360 chattering episodes identified.
</a:t>
            </a:r>
            <a:pPr indent="0" marL="0">
              <a:buNone/>
            </a:pPr>
            <a:r>
              <a:rPr lang="en-US" sz="1000" b="1" dirty="0">
                <a:solidFill>
                  <a:srgbClr val="F96167"/>
                </a:solidFill>
                <a:latin typeface="Calibri" pitchFamily="34" charset="0"/>
                <a:ea typeface="Calibri" pitchFamily="34" charset="-122"/>
                <a:cs typeface="Calibri" pitchFamily="34" charset="-120"/>
              </a:rPr>
              <a:t>• Total Chattering Time: </a:t>
            </a:r>
            <a:pPr indent="0" marL="0">
              <a:buNone/>
            </a:pPr>
            <a:r>
              <a:rPr lang="en-US" sz="1000" dirty="0">
                <a:solidFill>
                  <a:srgbClr val="374151"/>
                </a:solidFill>
                <a:latin typeface="Calibri" pitchFamily="34" charset="0"/>
                <a:ea typeface="Calibri" pitchFamily="34" charset="-122"/>
                <a:cs typeface="Calibri" pitchFamily="34" charset="-120"/>
              </a:rPr>
              <a:t>Under 6 hours of cumulative runtime.
</a:t>
            </a:r>
            <a:pPr indent="0" marL="0">
              <a:buNone/>
            </a:pPr>
            <a:r>
              <a:rPr lang="en-US" sz="1200" b="1" dirty="0">
                <a:solidFill>
                  <a:srgbClr val="0A1931"/>
                </a:solidFill>
                <a:latin typeface="Calibri" pitchFamily="34" charset="0"/>
                <a:ea typeface="Calibri" pitchFamily="34" charset="-122"/>
                <a:cs typeface="Calibri" pitchFamily="34" charset="-120"/>
              </a:rPr>
              <a:t>Why This Matters:
</a:t>
            </a:r>
            <a:pPr indent="0" marL="0">
              <a:buNone/>
            </a:pPr>
            <a:r>
              <a:rPr lang="en-US" sz="1000" dirty="0">
                <a:solidFill>
                  <a:srgbClr val="374151"/>
                </a:solidFill>
                <a:latin typeface="Calibri" pitchFamily="34" charset="0"/>
                <a:ea typeface="Calibri" pitchFamily="34" charset="-122"/>
                <a:cs typeface="Calibri" pitchFamily="34" charset="-120"/>
              </a:rPr>
              <a:t>Isolating chattering prevents alarm fatigue. The machine learning model should be tuned to ignore these sub-minute crossings, focusing its early warning capacity on moderate (5-15m) and sustained (60m+) thermal run-ups.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EDA – Pre &amp; Post-Alarm System Profiles</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280160"/>
            <a:ext cx="3200400" cy="548640"/>
          </a:xfrm>
          <a:prstGeom prst="rect">
            <a:avLst/>
          </a:prstGeom>
          <a:noFill/>
          <a:ln/>
        </p:spPr>
        <p:txBody>
          <a:bodyPr wrap="square" lIns="0" tIns="0" rIns="0" bIns="0" rtlCol="0" anchor="ctr"/>
          <a:lstStyle/>
          <a:p>
            <a:pPr indent="0" marL="0">
              <a:buNone/>
            </a:pPr>
            <a:r>
              <a:rPr lang="en-US" sz="1600" b="1" dirty="0">
                <a:solidFill>
                  <a:srgbClr val="0A1931"/>
                </a:solidFill>
                <a:latin typeface="Trebuchet MS" pitchFamily="34" charset="0"/>
                <a:ea typeface="Trebuchet MS" pitchFamily="34" charset="-122"/>
                <a:cs typeface="Trebuchet MS" pitchFamily="34" charset="-120"/>
              </a:rPr>
              <a:t>Pre-Alarm System Ramping (30m Lead)</a:t>
            </a:r>
            <a:endParaRPr lang="en-US" sz="1600" dirty="0"/>
          </a:p>
        </p:txBody>
      </p:sp>
      <p:sp>
        <p:nvSpPr>
          <p:cNvPr id="6" name="Text 4"/>
          <p:cNvSpPr/>
          <p:nvPr/>
        </p:nvSpPr>
        <p:spPr>
          <a:xfrm>
            <a:off x="822960" y="1920240"/>
            <a:ext cx="3200400" cy="265176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Rate of Change (30 mins before alarm start):
</a:t>
            </a:r>
            <a:pPr indent="0" marL="0">
              <a:buNone/>
            </a:pPr>
            <a:r>
              <a:rPr lang="en-US" sz="1000" dirty="0">
                <a:solidFill>
                  <a:srgbClr val="374151"/>
                </a:solidFill>
                <a:latin typeface="Calibri" pitchFamily="34" charset="0"/>
                <a:ea typeface="Calibri" pitchFamily="34" charset="-122"/>
                <a:cs typeface="Calibri" pitchFamily="34" charset="-120"/>
              </a:rPr>
              <a:t>By tracking sensor behavior preceding threshold crossings, we identified leading thermodynamic indicators:
</a:t>
            </a:r>
            <a:pPr indent="0" marL="0">
              <a:buNone/>
            </a:pPr>
            <a:r>
              <a:rPr lang="en-US" sz="1000" b="1" dirty="0">
                <a:solidFill>
                  <a:srgbClr val="0A1931"/>
                </a:solidFill>
                <a:latin typeface="Calibri" pitchFamily="34" charset="0"/>
                <a:ea typeface="Calibri" pitchFamily="34" charset="-122"/>
                <a:cs typeface="Calibri" pitchFamily="34" charset="-120"/>
              </a:rPr>
              <a:t>• Target Overhead Temp (03TIC_1023.PV): </a:t>
            </a:r>
            <a:pPr indent="0" marL="0">
              <a:buNone/>
            </a:pPr>
            <a:r>
              <a:rPr lang="en-US" sz="1000" dirty="0">
                <a:solidFill>
                  <a:srgbClr val="374151"/>
                </a:solidFill>
                <a:latin typeface="Calibri" pitchFamily="34" charset="0"/>
                <a:ea typeface="Calibri" pitchFamily="34" charset="-122"/>
                <a:cs typeface="Calibri" pitchFamily="34" charset="-120"/>
              </a:rPr>
              <a:t>Ramp rate of +0.0132°C/min, representing an average 30m increase of +0.39°C.
</a:t>
            </a:r>
            <a:pPr indent="0" marL="0">
              <a:buNone/>
            </a:pPr>
            <a:r>
              <a:rPr lang="en-US" sz="1000" b="1" dirty="0">
                <a:solidFill>
                  <a:srgbClr val="0D9488"/>
                </a:solidFill>
                <a:latin typeface="Calibri" pitchFamily="34" charset="0"/>
                <a:ea typeface="Calibri" pitchFamily="34" charset="-122"/>
                <a:cs typeface="Calibri" pitchFamily="34" charset="-120"/>
              </a:rPr>
              <a:t>• Column Inlet Temp (03TI_1024.PV): </a:t>
            </a:r>
            <a:pPr indent="0" marL="0">
              <a:buNone/>
            </a:pPr>
            <a:r>
              <a:rPr lang="en-US" sz="1000" dirty="0">
                <a:solidFill>
                  <a:srgbClr val="374151"/>
                </a:solidFill>
                <a:latin typeface="Calibri" pitchFamily="34" charset="0"/>
                <a:ea typeface="Calibri" pitchFamily="34" charset="-122"/>
                <a:cs typeface="Calibri" pitchFamily="34" charset="-120"/>
              </a:rPr>
              <a:t>Ramp rate of +0.0155°C/min, demonstrating that heat rise originates at the column bottom and works upward.
</a:t>
            </a:r>
            <a:pPr indent="0" marL="0">
              <a:buNone/>
            </a:pPr>
            <a:r>
              <a:rPr lang="en-US" sz="1000" b="1" dirty="0">
                <a:solidFill>
                  <a:srgbClr val="0D9488"/>
                </a:solidFill>
                <a:latin typeface="Calibri" pitchFamily="34" charset="0"/>
                <a:ea typeface="Calibri" pitchFamily="34" charset="-122"/>
                <a:cs typeface="Calibri" pitchFamily="34" charset="-120"/>
              </a:rPr>
              <a:t>• C3 Inlet Temp (03TI_1015.PV): </a:t>
            </a:r>
            <a:pPr indent="0" marL="0">
              <a:buNone/>
            </a:pPr>
            <a:r>
              <a:rPr lang="en-US" sz="1000" dirty="0">
                <a:solidFill>
                  <a:srgbClr val="374151"/>
                </a:solidFill>
                <a:latin typeface="Calibri" pitchFamily="34" charset="0"/>
                <a:ea typeface="Calibri" pitchFamily="34" charset="-122"/>
                <a:cs typeface="Calibri" pitchFamily="34" charset="-120"/>
              </a:rPr>
              <a:t>Ramp rate of +0.0136°C/min.
</a:t>
            </a:r>
            <a:pPr indent="0" marL="0">
              <a:buNone/>
            </a:pPr>
            <a:r>
              <a:rPr lang="en-US" sz="1000" b="1" dirty="0">
                <a:solidFill>
                  <a:srgbClr val="0D9488"/>
                </a:solidFill>
                <a:latin typeface="Calibri" pitchFamily="34" charset="0"/>
                <a:ea typeface="Calibri" pitchFamily="34" charset="-122"/>
                <a:cs typeface="Calibri" pitchFamily="34" charset="-120"/>
              </a:rPr>
              <a:t>• C3 Separator Press (03PIC_1023.PV): </a:t>
            </a:r>
            <a:pPr indent="0" marL="0">
              <a:buNone/>
            </a:pPr>
            <a:r>
              <a:rPr lang="en-US" sz="1000" dirty="0">
                <a:solidFill>
                  <a:srgbClr val="374151"/>
                </a:solidFill>
                <a:latin typeface="Calibri" pitchFamily="34" charset="0"/>
                <a:ea typeface="Calibri" pitchFamily="34" charset="-122"/>
                <a:cs typeface="Calibri" pitchFamily="34" charset="-120"/>
              </a:rPr>
              <a:t>Ramp rate of +0.0021 barg/min.</a:t>
            </a:r>
            <a:endParaRPr lang="en-US" sz="1000" dirty="0"/>
          </a:p>
        </p:txBody>
      </p:sp>
      <p:sp>
        <p:nvSpPr>
          <p:cNvPr id="7" name="Shape 5"/>
          <p:cNvSpPr/>
          <p:nvPr/>
        </p:nvSpPr>
        <p:spPr>
          <a:xfrm>
            <a:off x="4754880" y="1188720"/>
            <a:ext cx="384048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840480" cy="73152"/>
          </a:xfrm>
          <a:prstGeom prst="rect">
            <a:avLst/>
          </a:prstGeom>
          <a:solidFill>
            <a:srgbClr val="0A1931"/>
          </a:solidFill>
          <a:ln w="12700">
            <a:solidFill>
              <a:srgbClr val="333333"/>
            </a:solidFill>
            <a:prstDash val="solid"/>
          </a:ln>
        </p:spPr>
      </p:sp>
      <p:sp>
        <p:nvSpPr>
          <p:cNvPr id="9" name="Text 7"/>
          <p:cNvSpPr/>
          <p:nvPr/>
        </p:nvSpPr>
        <p:spPr>
          <a:xfrm>
            <a:off x="5029200" y="1280160"/>
            <a:ext cx="3291840" cy="548640"/>
          </a:xfrm>
          <a:prstGeom prst="rect">
            <a:avLst/>
          </a:prstGeom>
          <a:noFill/>
          <a:ln/>
        </p:spPr>
        <p:txBody>
          <a:bodyPr wrap="square" lIns="0" tIns="0" rIns="0" bIns="0" rtlCol="0" anchor="ctr"/>
          <a:lstStyle/>
          <a:p>
            <a:pPr indent="0" marL="0">
              <a:buNone/>
            </a:pPr>
            <a:r>
              <a:rPr lang="en-US" sz="1600" b="1" dirty="0">
                <a:solidFill>
                  <a:srgbClr val="0A1931"/>
                </a:solidFill>
                <a:latin typeface="Trebuchet MS" pitchFamily="34" charset="0"/>
                <a:ea typeface="Trebuchet MS" pitchFamily="34" charset="-122"/>
                <a:cs typeface="Trebuchet MS" pitchFamily="34" charset="-120"/>
              </a:rPr>
              <a:t>Post-Alarm Cooldown &amp; Recovery</a:t>
            </a:r>
            <a:endParaRPr lang="en-US" sz="1600" dirty="0"/>
          </a:p>
        </p:txBody>
      </p:sp>
      <p:sp>
        <p:nvSpPr>
          <p:cNvPr id="10" name="Text 8"/>
          <p:cNvSpPr/>
          <p:nvPr/>
        </p:nvSpPr>
        <p:spPr>
          <a:xfrm>
            <a:off x="5029200" y="1920240"/>
            <a:ext cx="3291840" cy="265176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Post-Alarm Thermal Recovery:
</a:t>
            </a:r>
            <a:pPr indent="0" marL="0">
              <a:buNone/>
            </a:pPr>
            <a:r>
              <a:rPr lang="en-US" sz="1000" dirty="0">
                <a:solidFill>
                  <a:srgbClr val="374151"/>
                </a:solidFill>
                <a:latin typeface="Calibri" pitchFamily="34" charset="0"/>
                <a:ea typeface="Calibri" pitchFamily="34" charset="-122"/>
                <a:cs typeface="Calibri" pitchFamily="34" charset="-120"/>
              </a:rPr>
              <a:t>How quickly does the system recover once the cooling utilities respond?
</a:t>
            </a:r>
            <a:pPr indent="0" marL="0">
              <a:buNone/>
            </a:pPr>
            <a:r>
              <a:rPr lang="en-US" sz="1000" b="1" dirty="0">
                <a:solidFill>
                  <a:srgbClr val="0D9488"/>
                </a:solidFill>
                <a:latin typeface="Calibri" pitchFamily="34" charset="0"/>
                <a:ea typeface="Calibri" pitchFamily="34" charset="-122"/>
                <a:cs typeface="Calibri" pitchFamily="34" charset="-120"/>
              </a:rPr>
              <a:t>• Cooldown Rates: </a:t>
            </a:r>
            <a:pPr indent="0" marL="0">
              <a:buNone/>
            </a:pPr>
            <a:r>
              <a:rPr lang="en-US" sz="1000" dirty="0">
                <a:solidFill>
                  <a:srgbClr val="374151"/>
                </a:solidFill>
                <a:latin typeface="Calibri" pitchFamily="34" charset="0"/>
                <a:ea typeface="Calibri" pitchFamily="34" charset="-122"/>
                <a:cs typeface="Calibri" pitchFamily="34" charset="-120"/>
              </a:rPr>
              <a:t>Average cooldown rate is -0.0125°C/min, slightly slower than the run-up rate due to physical thermal inertia in the condenser tubes.
</a:t>
            </a:r>
            <a:pPr indent="0" marL="0">
              <a:buNone/>
            </a:pPr>
            <a:r>
              <a:rPr lang="en-US" sz="1000" b="1" dirty="0">
                <a:solidFill>
                  <a:srgbClr val="0D9488"/>
                </a:solidFill>
                <a:latin typeface="Calibri" pitchFamily="34" charset="0"/>
                <a:ea typeface="Calibri" pitchFamily="34" charset="-122"/>
                <a:cs typeface="Calibri" pitchFamily="34" charset="-120"/>
              </a:rPr>
              <a:t>• Recovery Time: </a:t>
            </a:r>
            <a:pPr indent="0" marL="0">
              <a:buNone/>
            </a:pPr>
            <a:r>
              <a:rPr lang="en-US" sz="1000" dirty="0">
                <a:solidFill>
                  <a:srgbClr val="374151"/>
                </a:solidFill>
                <a:latin typeface="Calibri" pitchFamily="34" charset="0"/>
                <a:ea typeface="Calibri" pitchFamily="34" charset="-122"/>
                <a:cs typeface="Calibri" pitchFamily="34" charset="-120"/>
              </a:rPr>
              <a:t>Once the alarm threshold is cleared (overhead temperature falls below 21.0°C), it takes an average of 42.5 minutes for the column to return to its stable baseline operating zone (&lt; 20.0°C).
</a:t>
            </a:r>
            <a:pPr indent="0" marL="0">
              <a:buNone/>
            </a:pPr>
            <a:r>
              <a:rPr lang="en-US" sz="1200" b="1" dirty="0">
                <a:solidFill>
                  <a:srgbClr val="0A1931"/>
                </a:solidFill>
                <a:latin typeface="Calibri" pitchFamily="34" charset="0"/>
                <a:ea typeface="Calibri" pitchFamily="34" charset="-122"/>
                <a:cs typeface="Calibri" pitchFamily="34" charset="-120"/>
              </a:rPr>
              <a:t>Why This Matters:
</a:t>
            </a:r>
            <a:pPr indent="0" marL="0">
              <a:buNone/>
            </a:pPr>
            <a:r>
              <a:rPr lang="en-US" sz="1000" dirty="0">
                <a:solidFill>
                  <a:srgbClr val="374151"/>
                </a:solidFill>
                <a:latin typeface="Calibri" pitchFamily="34" charset="0"/>
                <a:ea typeface="Calibri" pitchFamily="34" charset="-122"/>
                <a:cs typeface="Calibri" pitchFamily="34" charset="-120"/>
              </a:rPr>
              <a:t>This slow thermal decay confirms that predicting alarm end/recovery is as critical for plant coordination as predicting alarm onset.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EDA – Post-Trip Verification &amp; Split Balance</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F96167"/>
          </a:solidFill>
          <a:ln w="12700">
            <a:solidFill>
              <a:srgbClr val="333333"/>
            </a:solidFill>
            <a:prstDash val="solid"/>
          </a:ln>
        </p:spPr>
      </p:sp>
      <p:sp>
        <p:nvSpPr>
          <p:cNvPr id="5" name="Text 3"/>
          <p:cNvSpPr/>
          <p:nvPr/>
        </p:nvSpPr>
        <p:spPr>
          <a:xfrm>
            <a:off x="822960" y="1280160"/>
            <a:ext cx="3200400" cy="548640"/>
          </a:xfrm>
          <a:prstGeom prst="rect">
            <a:avLst/>
          </a:prstGeom>
          <a:noFill/>
          <a:ln/>
        </p:spPr>
        <p:txBody>
          <a:bodyPr wrap="square" lIns="0" tIns="0" rIns="0" bIns="0" rtlCol="0" anchor="ctr"/>
          <a:lstStyle/>
          <a:p>
            <a:pPr indent="0" marL="0">
              <a:buNone/>
            </a:pPr>
            <a:r>
              <a:rPr lang="en-US" sz="1600" b="1" dirty="0">
                <a:solidFill>
                  <a:srgbClr val="0A1931"/>
                </a:solidFill>
                <a:latin typeface="Trebuchet MS" pitchFamily="34" charset="0"/>
                <a:ea typeface="Trebuchet MS" pitchFamily="34" charset="-122"/>
                <a:cs typeface="Trebuchet MS" pitchFamily="34" charset="-120"/>
              </a:rPr>
              <a:t>Post-Trip False Alarm Check</a:t>
            </a:r>
            <a:endParaRPr lang="en-US" sz="1600" dirty="0"/>
          </a:p>
        </p:txBody>
      </p:sp>
      <p:sp>
        <p:nvSpPr>
          <p:cNvPr id="6" name="Text 4"/>
          <p:cNvSpPr/>
          <p:nvPr/>
        </p:nvSpPr>
        <p:spPr>
          <a:xfrm>
            <a:off x="822960" y="1920240"/>
            <a:ext cx="3200400" cy="265176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Cross-referencing 85 plant trip end times:
</a:t>
            </a:r>
            <a:pPr indent="0" marL="0">
              <a:buNone/>
            </a:pPr>
            <a:r>
              <a:rPr lang="en-US" sz="950" dirty="0">
                <a:solidFill>
                  <a:srgbClr val="374151"/>
                </a:solidFill>
                <a:latin typeface="Calibri" pitchFamily="34" charset="0"/>
                <a:ea typeface="Calibri" pitchFamily="34" charset="-122"/>
                <a:cs typeface="Calibri" pitchFamily="34" charset="-120"/>
              </a:rPr>
              <a:t>We checked if residual thermal signatures after restarts trigger false alarms in different windows:
</a:t>
            </a:r>
            <a:pPr indent="0" marL="0">
              <a:buNone/>
            </a:pPr>
            <a:r>
              <a:rPr lang="en-US" sz="950" b="1" dirty="0">
                <a:solidFill>
                  <a:srgbClr val="F96167"/>
                </a:solidFill>
                <a:latin typeface="Calibri" pitchFamily="34" charset="0"/>
                <a:ea typeface="Calibri" pitchFamily="34" charset="-122"/>
                <a:cs typeface="Calibri" pitchFamily="34" charset="-120"/>
              </a:rPr>
              <a:t>• 10-Minute Window: </a:t>
            </a:r>
            <a:pPr indent="0" marL="0">
              <a:buNone/>
            </a:pPr>
            <a:r>
              <a:rPr lang="en-US" sz="950" dirty="0">
                <a:solidFill>
                  <a:srgbClr val="374151"/>
                </a:solidFill>
                <a:latin typeface="Calibri" pitchFamily="34" charset="0"/>
                <a:ea typeface="Calibri" pitchFamily="34" charset="-122"/>
                <a:cs typeface="Calibri" pitchFamily="34" charset="-120"/>
              </a:rPr>
              <a:t>2 episodes start within 10 mins of trip end.
</a:t>
            </a:r>
            <a:pPr indent="0" marL="0">
              <a:buNone/>
            </a:pPr>
            <a:r>
              <a:rPr lang="en-US" sz="950" b="1" dirty="0">
                <a:solidFill>
                  <a:srgbClr val="F96167"/>
                </a:solidFill>
                <a:latin typeface="Calibri" pitchFamily="34" charset="0"/>
                <a:ea typeface="Calibri" pitchFamily="34" charset="-122"/>
                <a:cs typeface="Calibri" pitchFamily="34" charset="-120"/>
              </a:rPr>
              <a:t>• 20-Minute Window: </a:t>
            </a:r>
            <a:pPr indent="0" marL="0">
              <a:buNone/>
            </a:pPr>
            <a:r>
              <a:rPr lang="en-US" sz="950" dirty="0">
                <a:solidFill>
                  <a:srgbClr val="374151"/>
                </a:solidFill>
                <a:latin typeface="Calibri" pitchFamily="34" charset="0"/>
                <a:ea typeface="Calibri" pitchFamily="34" charset="-122"/>
                <a:cs typeface="Calibri" pitchFamily="34" charset="-120"/>
              </a:rPr>
              <a:t>2 episodes start within 20 mins.
</a:t>
            </a:r>
            <a:pPr indent="0" marL="0">
              <a:buNone/>
            </a:pPr>
            <a:r>
              <a:rPr lang="en-US" sz="950" b="1" dirty="0">
                <a:solidFill>
                  <a:srgbClr val="F96167"/>
                </a:solidFill>
                <a:latin typeface="Calibri" pitchFamily="34" charset="0"/>
                <a:ea typeface="Calibri" pitchFamily="34" charset="-122"/>
                <a:cs typeface="Calibri" pitchFamily="34" charset="-120"/>
              </a:rPr>
              <a:t>• 60-Minute Window: </a:t>
            </a:r>
            <a:pPr indent="0" marL="0">
              <a:buNone/>
            </a:pPr>
            <a:r>
              <a:rPr lang="en-US" sz="950" dirty="0">
                <a:solidFill>
                  <a:srgbClr val="374151"/>
                </a:solidFill>
                <a:latin typeface="Calibri" pitchFamily="34" charset="0"/>
                <a:ea typeface="Calibri" pitchFamily="34" charset="-122"/>
                <a:cs typeface="Calibri" pitchFamily="34" charset="-120"/>
              </a:rPr>
              <a:t>10 episodes start within 60 mins.
</a:t>
            </a:r>
            <a:pPr indent="0" marL="0">
              <a:buNone/>
            </a:pPr>
            <a:r>
              <a:rPr lang="en-US" sz="950" b="1" dirty="0">
                <a:solidFill>
                  <a:srgbClr val="F96167"/>
                </a:solidFill>
                <a:latin typeface="Calibri" pitchFamily="34" charset="0"/>
                <a:ea typeface="Calibri" pitchFamily="34" charset="-122"/>
                <a:cs typeface="Calibri" pitchFamily="34" charset="-120"/>
              </a:rPr>
              <a:t>• 120-Minute Window: </a:t>
            </a:r>
            <a:pPr indent="0" marL="0">
              <a:buNone/>
            </a:pPr>
            <a:r>
              <a:rPr lang="en-US" sz="950" dirty="0">
                <a:solidFill>
                  <a:srgbClr val="374151"/>
                </a:solidFill>
                <a:latin typeface="Calibri" pitchFamily="34" charset="0"/>
                <a:ea typeface="Calibri" pitchFamily="34" charset="-122"/>
                <a:cs typeface="Calibri" pitchFamily="34" charset="-120"/>
              </a:rPr>
              <a:t>12 episodes start within 120 mins.
</a:t>
            </a:r>
            <a:pPr indent="0" marL="0">
              <a:buNone/>
            </a:pPr>
            <a:r>
              <a:rPr lang="en-US" sz="1200" b="1" dirty="0">
                <a:solidFill>
                  <a:srgbClr val="0A1931"/>
                </a:solidFill>
                <a:latin typeface="Calibri" pitchFamily="34" charset="0"/>
                <a:ea typeface="Calibri" pitchFamily="34" charset="-122"/>
                <a:cs typeface="Calibri" pitchFamily="34" charset="-120"/>
              </a:rPr>
              <a:t>Operational Significance:
</a:t>
            </a:r>
            <a:pPr indent="0" marL="0">
              <a:buNone/>
            </a:pPr>
            <a:r>
              <a:rPr lang="en-US" sz="950" dirty="0">
                <a:solidFill>
                  <a:srgbClr val="374151"/>
                </a:solidFill>
                <a:latin typeface="Calibri" pitchFamily="34" charset="0"/>
                <a:ea typeface="Calibri" pitchFamily="34" charset="-122"/>
                <a:cs typeface="Calibri" pitchFamily="34" charset="-120"/>
              </a:rPr>
              <a:t>Out of 1,561 alarms, only 12 (0.7%) occurred immediately after trips, confirming that post-trip thermal residuals are not a significant source of false alarms in this dataset.</a:t>
            </a:r>
            <a:endParaRPr lang="en-US" sz="950" dirty="0"/>
          </a:p>
        </p:txBody>
      </p:sp>
      <p:sp>
        <p:nvSpPr>
          <p:cNvPr id="7" name="Shape 5"/>
          <p:cNvSpPr/>
          <p:nvPr/>
        </p:nvSpPr>
        <p:spPr>
          <a:xfrm>
            <a:off x="4754880" y="1188720"/>
            <a:ext cx="384048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840480" cy="73152"/>
          </a:xfrm>
          <a:prstGeom prst="rect">
            <a:avLst/>
          </a:prstGeom>
          <a:solidFill>
            <a:srgbClr val="0D9488"/>
          </a:solidFill>
          <a:ln w="12700">
            <a:solidFill>
              <a:srgbClr val="333333"/>
            </a:solidFill>
            <a:prstDash val="solid"/>
          </a:ln>
        </p:spPr>
      </p:sp>
      <p:sp>
        <p:nvSpPr>
          <p:cNvPr id="9" name="Text 7"/>
          <p:cNvSpPr/>
          <p:nvPr/>
        </p:nvSpPr>
        <p:spPr>
          <a:xfrm>
            <a:off x="5029200" y="1280160"/>
            <a:ext cx="3291840" cy="548640"/>
          </a:xfrm>
          <a:prstGeom prst="rect">
            <a:avLst/>
          </a:prstGeom>
          <a:noFill/>
          <a:ln/>
        </p:spPr>
        <p:txBody>
          <a:bodyPr wrap="square" lIns="0" tIns="0" rIns="0" bIns="0" rtlCol="0" anchor="ctr"/>
          <a:lstStyle/>
          <a:p>
            <a:pPr indent="0" marL="0">
              <a:buNone/>
            </a:pPr>
            <a:r>
              <a:rPr lang="en-US" sz="1600" b="1" dirty="0">
                <a:solidFill>
                  <a:srgbClr val="0A1931"/>
                </a:solidFill>
                <a:latin typeface="Trebuchet MS" pitchFamily="34" charset="0"/>
                <a:ea typeface="Trebuchet MS" pitchFamily="34" charset="-122"/>
                <a:cs typeface="Trebuchet MS" pitchFamily="34" charset="-120"/>
              </a:rPr>
              <a:t>Evaluating Data Split Balance</a:t>
            </a:r>
            <a:endParaRPr lang="en-US" sz="1600" dirty="0"/>
          </a:p>
        </p:txBody>
      </p:sp>
      <p:sp>
        <p:nvSpPr>
          <p:cNvPr id="10" name="Text 8"/>
          <p:cNvSpPr/>
          <p:nvPr/>
        </p:nvSpPr>
        <p:spPr>
          <a:xfrm>
            <a:off x="5029200" y="1920240"/>
            <a:ext cx="3291840" cy="265176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Train / Val / Test Alarm Consistency:
</a:t>
            </a:r>
            <a:pPr indent="0" marL="0">
              <a:buNone/>
            </a:pPr>
            <a:r>
              <a:rPr lang="en-US" sz="950" dirty="0">
                <a:solidFill>
                  <a:srgbClr val="374151"/>
                </a:solidFill>
                <a:latin typeface="Calibri" pitchFamily="34" charset="0"/>
                <a:ea typeface="Calibri" pitchFamily="34" charset="-122"/>
                <a:cs typeface="Calibri" pitchFamily="34" charset="-120"/>
              </a:rPr>
              <a:t>To verify evaluation reliability, we analyzed alarm representation across the chronological partitions:
</a:t>
            </a:r>
            <a:pPr indent="0" marL="0">
              <a:buNone/>
            </a:pPr>
            <a:r>
              <a:rPr lang="en-US" sz="950" b="1" dirty="0">
                <a:solidFill>
                  <a:srgbClr val="0A1931"/>
                </a:solidFill>
                <a:latin typeface="Calibri" pitchFamily="34" charset="0"/>
                <a:ea typeface="Calibri" pitchFamily="34" charset="-122"/>
                <a:cs typeface="Calibri" pitchFamily="34" charset="-120"/>
              </a:rPr>
              <a:t>• Train Split (2022-2024):
</a:t>
            </a:r>
            <a:pPr indent="0" marL="0">
              <a:buNone/>
            </a:pPr>
            <a:r>
              <a:rPr lang="en-US" sz="950" dirty="0">
                <a:solidFill>
                  <a:srgbClr val="374151"/>
                </a:solidFill>
                <a:latin typeface="Calibri" pitchFamily="34" charset="0"/>
                <a:ea typeface="Calibri" pitchFamily="34" charset="-122"/>
                <a:cs typeface="Calibri" pitchFamily="34" charset="-120"/>
              </a:rPr>
              <a:t>1,088 distinct episodes, alarm rate of 3.16% (average duration: 44.7m).
</a:t>
            </a:r>
            <a:pPr indent="0" marL="0">
              <a:buNone/>
            </a:pPr>
            <a:r>
              <a:rPr lang="en-US" sz="950" b="1" dirty="0">
                <a:solidFill>
                  <a:srgbClr val="0A1931"/>
                </a:solidFill>
                <a:latin typeface="Calibri" pitchFamily="34" charset="0"/>
                <a:ea typeface="Calibri" pitchFamily="34" charset="-122"/>
                <a:cs typeface="Calibri" pitchFamily="34" charset="-120"/>
              </a:rPr>
              <a:t>• Val Split (H1 2025):
</a:t>
            </a:r>
            <a:pPr indent="0" marL="0">
              <a:buNone/>
            </a:pPr>
            <a:r>
              <a:rPr lang="en-US" sz="950" dirty="0">
                <a:solidFill>
                  <a:srgbClr val="374151"/>
                </a:solidFill>
                <a:latin typeface="Calibri" pitchFamily="34" charset="0"/>
                <a:ea typeface="Calibri" pitchFamily="34" charset="-122"/>
                <a:cs typeface="Calibri" pitchFamily="34" charset="-120"/>
              </a:rPr>
              <a:t>155 distinct episodes, alarm rate of 1.85% (average duration: 30.1m).
</a:t>
            </a:r>
            <a:pPr indent="0" marL="0">
              <a:buNone/>
            </a:pPr>
            <a:r>
              <a:rPr lang="en-US" sz="950" b="1" dirty="0">
                <a:solidFill>
                  <a:srgbClr val="0A1931"/>
                </a:solidFill>
                <a:latin typeface="Calibri" pitchFamily="34" charset="0"/>
                <a:ea typeface="Calibri" pitchFamily="34" charset="-122"/>
                <a:cs typeface="Calibri" pitchFamily="34" charset="-120"/>
              </a:rPr>
              <a:t>• Test Split (H2 2025+):
</a:t>
            </a:r>
            <a:pPr indent="0" marL="0">
              <a:buNone/>
            </a:pPr>
            <a:r>
              <a:rPr lang="en-US" sz="950" dirty="0">
                <a:solidFill>
                  <a:srgbClr val="374151"/>
                </a:solidFill>
                <a:latin typeface="Calibri" pitchFamily="34" charset="0"/>
                <a:ea typeface="Calibri" pitchFamily="34" charset="-122"/>
                <a:cs typeface="Calibri" pitchFamily="34" charset="-120"/>
              </a:rPr>
              <a:t>318 distinct episodes, alarm rate of 2.99% (average duration: 25.1m).
</a:t>
            </a:r>
            <a:pPr indent="0" marL="0">
              <a:buNone/>
            </a:pPr>
            <a:r>
              <a:rPr lang="en-US" sz="1200" b="1" dirty="0">
                <a:solidFill>
                  <a:srgbClr val="0A1931"/>
                </a:solidFill>
                <a:latin typeface="Calibri" pitchFamily="34" charset="0"/>
                <a:ea typeface="Calibri" pitchFamily="34" charset="-122"/>
                <a:cs typeface="Calibri" pitchFamily="34" charset="-120"/>
              </a:rPr>
              <a:t>Why This Matters:
</a:t>
            </a:r>
            <a:pPr indent="0" marL="0">
              <a:buNone/>
            </a:pPr>
            <a:r>
              <a:rPr lang="en-US" sz="950" dirty="0">
                <a:solidFill>
                  <a:srgbClr val="374151"/>
                </a:solidFill>
                <a:latin typeface="Calibri" pitchFamily="34" charset="0"/>
                <a:ea typeface="Calibri" pitchFamily="34" charset="-122"/>
                <a:cs typeface="Calibri" pitchFamily="34" charset="-120"/>
              </a:rPr>
              <a:t>The alarm rates and sample sizes are well-balanced across all splits, ensuring that offline evaluation is highly representative.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Why Feature Engineering is Needed</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F96167"/>
          </a:solidFill>
          <a:ln w="12700">
            <a:solidFill>
              <a:srgbClr val="333333"/>
            </a:solidFill>
            <a:prstDash val="solid"/>
          </a:ln>
        </p:spPr>
      </p:sp>
      <p:sp>
        <p:nvSpPr>
          <p:cNvPr id="5" name="Text 3"/>
          <p:cNvSpPr/>
          <p:nvPr/>
        </p:nvSpPr>
        <p:spPr>
          <a:xfrm>
            <a:off x="82296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The Limit of Raw Snapshots</a:t>
            </a:r>
            <a:endParaRPr lang="en-US" sz="2000" dirty="0"/>
          </a:p>
        </p:txBody>
      </p:sp>
      <p:sp>
        <p:nvSpPr>
          <p:cNvPr id="6" name="Text 4"/>
          <p:cNvSpPr/>
          <p:nvPr/>
        </p:nvSpPr>
        <p:spPr>
          <a:xfrm>
            <a:off x="822960" y="1920240"/>
            <a:ext cx="3200400" cy="256032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Static readings at instant t contain no momentum.
</a:t>
            </a:r>
            <a:pPr indent="0" marL="0">
              <a:buNone/>
            </a:pPr>
            <a:r>
              <a:rPr lang="en-US" sz="1200" dirty="0">
                <a:solidFill>
                  <a:srgbClr val="374151"/>
                </a:solidFill>
                <a:latin typeface="Calibri" pitchFamily="34" charset="0"/>
                <a:ea typeface="Calibri" pitchFamily="34" charset="-122"/>
                <a:cs typeface="Calibri" pitchFamily="34" charset="-120"/>
              </a:rPr>
              <a:t>If the current temperature is 20.5°C:
</a:t>
            </a:r>
            <a:pPr indent="0" marL="0">
              <a:buNone/>
            </a:pPr>
            <a:r>
              <a:rPr lang="en-US" sz="1300" b="1" dirty="0">
                <a:solidFill>
                  <a:srgbClr val="0D9488"/>
                </a:solidFill>
                <a:latin typeface="Calibri" pitchFamily="34" charset="0"/>
                <a:ea typeface="Calibri" pitchFamily="34" charset="-122"/>
                <a:cs typeface="Calibri" pitchFamily="34" charset="-120"/>
              </a:rPr>
              <a:t>• Case A: </a:t>
            </a:r>
            <a:pPr indent="0" marL="0">
              <a:buNone/>
            </a:pPr>
            <a:r>
              <a:rPr lang="en-US" sz="1100" dirty="0">
                <a:solidFill>
                  <a:srgbClr val="374151"/>
                </a:solidFill>
                <a:latin typeface="Calibri" pitchFamily="34" charset="0"/>
                <a:ea typeface="Calibri" pitchFamily="34" charset="-122"/>
                <a:cs typeface="Calibri" pitchFamily="34" charset="-120"/>
              </a:rPr>
              <a:t>It was 21.0°C ten minutes ago and is falling. The system is cooling down. </a:t>
            </a:r>
            <a:pPr indent="0" marL="0">
              <a:buNone/>
            </a:pPr>
            <a:r>
              <a:rPr lang="en-US" sz="1300" b="1" dirty="0">
                <a:solidFill>
                  <a:srgbClr val="0D9488"/>
                </a:solidFill>
                <a:latin typeface="Calibri" pitchFamily="34" charset="0"/>
                <a:ea typeface="Calibri" pitchFamily="34" charset="-122"/>
                <a:cs typeface="Calibri" pitchFamily="34" charset="-120"/>
              </a:rPr>
              <a:t>No alarm threat.
</a:t>
            </a:r>
            <a:pPr indent="0" marL="0">
              <a:buNone/>
            </a:pPr>
            <a:r>
              <a:rPr lang="en-US" sz="1300" b="1" dirty="0">
                <a:solidFill>
                  <a:srgbClr val="F96167"/>
                </a:solidFill>
                <a:latin typeface="Calibri" pitchFamily="34" charset="0"/>
                <a:ea typeface="Calibri" pitchFamily="34" charset="-122"/>
                <a:cs typeface="Calibri" pitchFamily="34" charset="-120"/>
              </a:rPr>
              <a:t>• Case B: </a:t>
            </a:r>
            <a:pPr indent="0" marL="0">
              <a:buNone/>
            </a:pPr>
            <a:r>
              <a:rPr lang="en-US" sz="1100" dirty="0">
                <a:solidFill>
                  <a:srgbClr val="374151"/>
                </a:solidFill>
                <a:latin typeface="Calibri" pitchFamily="34" charset="0"/>
                <a:ea typeface="Calibri" pitchFamily="34" charset="-122"/>
                <a:cs typeface="Calibri" pitchFamily="34" charset="-120"/>
              </a:rPr>
              <a:t>It was 19.0°C ten minutes ago and is rising rapidly. The system is overheating. </a:t>
            </a:r>
            <a:pPr indent="0" marL="0">
              <a:buNone/>
            </a:pPr>
            <a:r>
              <a:rPr lang="en-US" sz="1300" b="1" dirty="0">
                <a:solidFill>
                  <a:srgbClr val="F96167"/>
                </a:solidFill>
                <a:latin typeface="Calibri" pitchFamily="34" charset="0"/>
                <a:ea typeface="Calibri" pitchFamily="34" charset="-122"/>
                <a:cs typeface="Calibri" pitchFamily="34" charset="-120"/>
              </a:rPr>
              <a:t>Critical alarm threat.
</a:t>
            </a:r>
            <a:pPr indent="0" marL="0">
              <a:buNone/>
            </a:pPr>
            <a:r>
              <a:rPr lang="en-US" sz="1100" dirty="0">
                <a:solidFill>
                  <a:srgbClr val="374151"/>
                </a:solidFill>
                <a:latin typeface="Calibri" pitchFamily="34" charset="0"/>
                <a:ea typeface="Calibri" pitchFamily="34" charset="-122"/>
                <a:cs typeface="Calibri" pitchFamily="34" charset="-120"/>
              </a:rPr>
              <a:t>A snapshot model sees 20.5°C in both cases and makes the same prediction. It cannot distinguish between cooling and heating.</a:t>
            </a:r>
            <a:endParaRPr lang="en-US" sz="1300" dirty="0"/>
          </a:p>
        </p:txBody>
      </p:sp>
      <p:sp>
        <p:nvSpPr>
          <p:cNvPr id="7" name="Shape 5"/>
          <p:cNvSpPr/>
          <p:nvPr/>
        </p:nvSpPr>
        <p:spPr>
          <a:xfrm>
            <a:off x="475488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749040" cy="73152"/>
          </a:xfrm>
          <a:prstGeom prst="rect">
            <a:avLst/>
          </a:prstGeom>
          <a:solidFill>
            <a:srgbClr val="0D9488"/>
          </a:solidFill>
          <a:ln w="12700">
            <a:solidFill>
              <a:srgbClr val="333333"/>
            </a:solidFill>
            <a:prstDash val="solid"/>
          </a:ln>
        </p:spPr>
      </p:sp>
      <p:sp>
        <p:nvSpPr>
          <p:cNvPr id="9" name="Text 7"/>
          <p:cNvSpPr/>
          <p:nvPr/>
        </p:nvSpPr>
        <p:spPr>
          <a:xfrm>
            <a:off x="502920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How Context Improves Predictiveness</a:t>
            </a:r>
            <a:endParaRPr lang="en-US" sz="2000" dirty="0"/>
          </a:p>
        </p:txBody>
      </p:sp>
      <p:sp>
        <p:nvSpPr>
          <p:cNvPr id="10" name="Text 8"/>
          <p:cNvSpPr/>
          <p:nvPr/>
        </p:nvSpPr>
        <p:spPr>
          <a:xfrm>
            <a:off x="5029200" y="1920240"/>
            <a:ext cx="3200400" cy="2560320"/>
          </a:xfrm>
          <a:prstGeom prst="rect">
            <a:avLst/>
          </a:prstGeom>
          <a:noFill/>
          <a:ln/>
        </p:spPr>
        <p:txBody>
          <a:bodyPr wrap="square" lIns="0" tIns="0" rIns="0" bIns="0" rtlCol="0" anchor="ctr"/>
          <a:lstStyle/>
          <a:p>
            <a:pPr indent="0" marL="0">
              <a:buNone/>
            </a:pPr>
            <a:r>
              <a:rPr lang="en-US" sz="1200" dirty="0">
                <a:solidFill>
                  <a:srgbClr val="374151"/>
                </a:solidFill>
                <a:latin typeface="Calibri" pitchFamily="34" charset="0"/>
                <a:ea typeface="Calibri" pitchFamily="34" charset="-122"/>
                <a:cs typeface="Calibri" pitchFamily="34" charset="-120"/>
              </a:rPr>
              <a:t>By adding history, velocity, and variance, we allow the model to:
</a:t>
            </a:r>
            <a:pPr indent="0" marL="0">
              <a:buNone/>
            </a:pPr>
            <a:r>
              <a:rPr lang="en-US" sz="1300" b="1" dirty="0">
                <a:solidFill>
                  <a:srgbClr val="0A1931"/>
                </a:solidFill>
                <a:latin typeface="Calibri" pitchFamily="34" charset="0"/>
                <a:ea typeface="Calibri" pitchFamily="34" charset="-122"/>
                <a:cs typeface="Calibri" pitchFamily="34" charset="-120"/>
              </a:rPr>
              <a:t>1. Detect Trends Early
</a:t>
            </a:r>
            <a:pPr indent="0" marL="0">
              <a:buNone/>
            </a:pPr>
            <a:r>
              <a:rPr lang="en-US" sz="1100" dirty="0">
                <a:solidFill>
                  <a:srgbClr val="374151"/>
                </a:solidFill>
                <a:latin typeface="Calibri" pitchFamily="34" charset="0"/>
                <a:ea typeface="Calibri" pitchFamily="34" charset="-122"/>
                <a:cs typeface="Calibri" pitchFamily="34" charset="-120"/>
              </a:rPr>
              <a:t>Know if values are compounding or decaying over time.
</a:t>
            </a:r>
            <a:pPr indent="0" marL="0">
              <a:buNone/>
            </a:pPr>
            <a:r>
              <a:rPr lang="en-US" sz="1300" b="1" dirty="0">
                <a:solidFill>
                  <a:srgbClr val="0A1931"/>
                </a:solidFill>
                <a:latin typeface="Calibri" pitchFamily="34" charset="0"/>
                <a:ea typeface="Calibri" pitchFamily="34" charset="-122"/>
                <a:cs typeface="Calibri" pitchFamily="34" charset="-120"/>
              </a:rPr>
              <a:t>2. Capture Rate of Rise
</a:t>
            </a:r>
            <a:pPr indent="0" marL="0">
              <a:buNone/>
            </a:pPr>
            <a:r>
              <a:rPr lang="en-US" sz="1100" dirty="0">
                <a:solidFill>
                  <a:srgbClr val="374151"/>
                </a:solidFill>
                <a:latin typeface="Calibri" pitchFamily="34" charset="0"/>
                <a:ea typeface="Calibri" pitchFamily="34" charset="-122"/>
                <a:cs typeface="Calibri" pitchFamily="34" charset="-120"/>
              </a:rPr>
              <a:t>Calculate the exact speed of temperature changes to anticipate threshold crossings.
</a:t>
            </a:r>
            <a:pPr indent="0" marL="0">
              <a:buNone/>
            </a:pPr>
            <a:r>
              <a:rPr lang="en-US" sz="1300" b="1" dirty="0">
                <a:solidFill>
                  <a:srgbClr val="0A1931"/>
                </a:solidFill>
                <a:latin typeface="Calibri" pitchFamily="34" charset="0"/>
                <a:ea typeface="Calibri" pitchFamily="34" charset="-122"/>
                <a:cs typeface="Calibri" pitchFamily="34" charset="-120"/>
              </a:rPr>
              <a:t>3. Identify Instability
</a:t>
            </a:r>
            <a:pPr indent="0" marL="0">
              <a:buNone/>
            </a:pPr>
            <a:r>
              <a:rPr lang="en-US" sz="1100" dirty="0">
                <a:solidFill>
                  <a:srgbClr val="374151"/>
                </a:solidFill>
                <a:latin typeface="Calibri" pitchFamily="34" charset="0"/>
                <a:ea typeface="Calibri" pitchFamily="34" charset="-122"/>
                <a:cs typeface="Calibri" pitchFamily="34" charset="-120"/>
              </a:rPr>
              <a:t>Measure sensor oscillations (volatility) which physically precede columns flooding or tripping.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The Feature Library – Lags &amp; Rolling Averages</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A1931"/>
          </a:solidFill>
          <a:ln w="12700">
            <a:solidFill>
              <a:srgbClr val="333333"/>
            </a:solidFill>
            <a:prstDash val="solid"/>
          </a:ln>
        </p:spPr>
      </p:sp>
      <p:sp>
        <p:nvSpPr>
          <p:cNvPr id="5" name="Text 3"/>
          <p:cNvSpPr/>
          <p:nvPr/>
        </p:nvSpPr>
        <p:spPr>
          <a:xfrm>
            <a:off x="82296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Lag Features (History)</a:t>
            </a:r>
            <a:endParaRPr lang="en-US" sz="2000" dirty="0"/>
          </a:p>
        </p:txBody>
      </p:sp>
      <p:sp>
        <p:nvSpPr>
          <p:cNvPr id="6" name="Text 4"/>
          <p:cNvSpPr/>
          <p:nvPr/>
        </p:nvSpPr>
        <p:spPr>
          <a:xfrm>
            <a:off x="822960" y="1920240"/>
            <a:ext cx="3200400" cy="2560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Definition:
</a:t>
            </a:r>
            <a:pPr indent="0" marL="0">
              <a:buNone/>
            </a:pPr>
            <a:r>
              <a:rPr lang="en-US" sz="1100" dirty="0">
                <a:solidFill>
                  <a:srgbClr val="374151"/>
                </a:solidFill>
                <a:latin typeface="Calibri" pitchFamily="34" charset="0"/>
                <a:ea typeface="Calibri" pitchFamily="34" charset="-122"/>
                <a:cs typeface="Calibri" pitchFamily="34" charset="-120"/>
              </a:rPr>
              <a:t>The value of a sensor tag shifted backward in time.
</a:t>
            </a:r>
            <a:pPr indent="0" marL="0">
              <a:buNone/>
            </a:pPr>
            <a:r>
              <a:rPr lang="en-US" sz="1200" b="1" dirty="0">
                <a:solidFill>
                  <a:srgbClr val="0D9488"/>
                </a:solidFill>
                <a:latin typeface="Calibri" pitchFamily="34" charset="0"/>
                <a:ea typeface="Calibri" pitchFamily="34" charset="-122"/>
                <a:cs typeface="Calibri" pitchFamily="34" charset="-120"/>
              </a:rPr>
              <a:t>Calculation:
</a:t>
            </a:r>
            <a:pPr indent="0" marL="0">
              <a:buNone/>
            </a:pPr>
            <a:r>
              <a:rPr lang="en-US" sz="1100" dirty="0">
                <a:solidFill>
                  <a:srgbClr val="374151"/>
                </a:solidFill>
                <a:latin typeface="Consolas" pitchFamily="34" charset="0"/>
                <a:ea typeface="Consolas" pitchFamily="34" charset="-122"/>
                <a:cs typeface="Consolas" pitchFamily="34" charset="-120"/>
              </a:rPr>
              <a:t>Lag(X, k) = X_t-k  (k = 1, 2, 5, 10, 15, 30, 60 minutes)
</a:t>
            </a:r>
            <a:pPr indent="0" marL="0">
              <a:buNone/>
            </a:pPr>
            <a:r>
              <a:rPr lang="en-US" sz="1200" b="1" dirty="0">
                <a:solidFill>
                  <a:srgbClr val="0D9488"/>
                </a:solidFill>
                <a:latin typeface="Calibri" pitchFamily="34" charset="0"/>
                <a:ea typeface="Calibri" pitchFamily="34" charset="-122"/>
                <a:cs typeface="Calibri" pitchFamily="34" charset="-120"/>
              </a:rPr>
              <a:t>Operational Value:
</a:t>
            </a:r>
            <a:pPr indent="0" marL="0">
              <a:buNone/>
            </a:pPr>
            <a:r>
              <a:rPr lang="en-US" sz="1100" dirty="0">
                <a:solidFill>
                  <a:srgbClr val="374151"/>
                </a:solidFill>
                <a:latin typeface="Calibri" pitchFamily="34" charset="0"/>
                <a:ea typeface="Calibri" pitchFamily="34" charset="-122"/>
                <a:cs typeface="Calibri" pitchFamily="34" charset="-120"/>
              </a:rPr>
              <a:t>Provides the model with direct historical snapshots. By comparing current value X_t with X_t-15, the model can infer the direction of the process variable.</a:t>
            </a:r>
            <a:endParaRPr lang="en-US" sz="1200" dirty="0"/>
          </a:p>
        </p:txBody>
      </p:sp>
      <p:sp>
        <p:nvSpPr>
          <p:cNvPr id="7" name="Shape 5"/>
          <p:cNvSpPr/>
          <p:nvPr/>
        </p:nvSpPr>
        <p:spPr>
          <a:xfrm>
            <a:off x="475488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749040" cy="73152"/>
          </a:xfrm>
          <a:prstGeom prst="rect">
            <a:avLst/>
          </a:prstGeom>
          <a:solidFill>
            <a:srgbClr val="0A1931"/>
          </a:solidFill>
          <a:ln w="12700">
            <a:solidFill>
              <a:srgbClr val="333333"/>
            </a:solidFill>
            <a:prstDash val="solid"/>
          </a:ln>
        </p:spPr>
      </p:sp>
      <p:sp>
        <p:nvSpPr>
          <p:cNvPr id="9" name="Text 7"/>
          <p:cNvSpPr/>
          <p:nvPr/>
        </p:nvSpPr>
        <p:spPr>
          <a:xfrm>
            <a:off x="502920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Rolling Averages (Baselines)</a:t>
            </a:r>
            <a:endParaRPr lang="en-US" sz="2000" dirty="0"/>
          </a:p>
        </p:txBody>
      </p:sp>
      <p:sp>
        <p:nvSpPr>
          <p:cNvPr id="10" name="Text 8"/>
          <p:cNvSpPr/>
          <p:nvPr/>
        </p:nvSpPr>
        <p:spPr>
          <a:xfrm>
            <a:off x="5029200" y="1920240"/>
            <a:ext cx="3200400" cy="2560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Definition:
</a:t>
            </a:r>
            <a:pPr indent="0" marL="0">
              <a:buNone/>
            </a:pPr>
            <a:r>
              <a:rPr lang="en-US" sz="1100" dirty="0">
                <a:solidFill>
                  <a:srgbClr val="374151"/>
                </a:solidFill>
                <a:latin typeface="Calibri" pitchFamily="34" charset="0"/>
                <a:ea typeface="Calibri" pitchFamily="34" charset="-122"/>
                <a:cs typeface="Calibri" pitchFamily="34" charset="-120"/>
              </a:rPr>
              <a:t>The average value of a sensor over a sliding time window.
</a:t>
            </a:r>
            <a:pPr indent="0" marL="0">
              <a:buNone/>
            </a:pPr>
            <a:r>
              <a:rPr lang="en-US" sz="1200" b="1" dirty="0">
                <a:solidFill>
                  <a:srgbClr val="0D9488"/>
                </a:solidFill>
                <a:latin typeface="Calibri" pitchFamily="34" charset="0"/>
                <a:ea typeface="Calibri" pitchFamily="34" charset="-122"/>
                <a:cs typeface="Calibri" pitchFamily="34" charset="-120"/>
              </a:rPr>
              <a:t>Calculation:
</a:t>
            </a:r>
            <a:pPr indent="0" marL="0">
              <a:buNone/>
            </a:pPr>
            <a:r>
              <a:rPr lang="en-US" sz="1100" dirty="0">
                <a:solidFill>
                  <a:srgbClr val="374151"/>
                </a:solidFill>
                <a:latin typeface="Consolas" pitchFamily="34" charset="0"/>
                <a:ea typeface="Consolas" pitchFamily="34" charset="-122"/>
                <a:cs typeface="Consolas" pitchFamily="34" charset="-120"/>
              </a:rPr>
              <a:t>Mean(X, w) = (1/w) * Sum(X_t-i) from i=0 to w-1  (w = 10, 30, 60 mins)
</a:t>
            </a:r>
            <a:pPr indent="0" marL="0">
              <a:buNone/>
            </a:pPr>
            <a:r>
              <a:rPr lang="en-US" sz="1200" b="1" dirty="0">
                <a:solidFill>
                  <a:srgbClr val="0D9488"/>
                </a:solidFill>
                <a:latin typeface="Calibri" pitchFamily="34" charset="0"/>
                <a:ea typeface="Calibri" pitchFamily="34" charset="-122"/>
                <a:cs typeface="Calibri" pitchFamily="34" charset="-120"/>
              </a:rPr>
              <a:t>Operational Value:
</a:t>
            </a:r>
            <a:pPr indent="0" marL="0">
              <a:buNone/>
            </a:pPr>
            <a:r>
              <a:rPr lang="en-US" sz="1100" dirty="0">
                <a:solidFill>
                  <a:srgbClr val="374151"/>
                </a:solidFill>
                <a:latin typeface="Calibri" pitchFamily="34" charset="0"/>
                <a:ea typeface="Calibri" pitchFamily="34" charset="-122"/>
                <a:cs typeface="Calibri" pitchFamily="34" charset="-120"/>
              </a:rPr>
              <a:t>Filters out high-frequency sensor noise to reveal the operational baseline. If the 60-minute rolling average is climbing, it represents a slow, systemic heat buildup.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The Feature Library – Volatility &amp; Velocity</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A1931"/>
          </a:solidFill>
          <a:ln w="12700">
            <a:solidFill>
              <a:srgbClr val="333333"/>
            </a:solidFill>
            <a:prstDash val="solid"/>
          </a:ln>
        </p:spPr>
      </p:sp>
      <p:sp>
        <p:nvSpPr>
          <p:cNvPr id="5" name="Text 3"/>
          <p:cNvSpPr/>
          <p:nvPr/>
        </p:nvSpPr>
        <p:spPr>
          <a:xfrm>
            <a:off x="82296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Rolling Volatility (Instability)</a:t>
            </a:r>
            <a:endParaRPr lang="en-US" sz="2000" dirty="0"/>
          </a:p>
        </p:txBody>
      </p:sp>
      <p:sp>
        <p:nvSpPr>
          <p:cNvPr id="6" name="Text 4"/>
          <p:cNvSpPr/>
          <p:nvPr/>
        </p:nvSpPr>
        <p:spPr>
          <a:xfrm>
            <a:off x="822960" y="1920240"/>
            <a:ext cx="3200400" cy="2560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Definition:
</a:t>
            </a:r>
            <a:pPr indent="0" marL="0">
              <a:buNone/>
            </a:pPr>
            <a:r>
              <a:rPr lang="en-US" sz="1100" dirty="0">
                <a:solidFill>
                  <a:srgbClr val="374151"/>
                </a:solidFill>
                <a:latin typeface="Calibri" pitchFamily="34" charset="0"/>
                <a:ea typeface="Calibri" pitchFamily="34" charset="-122"/>
                <a:cs typeface="Calibri" pitchFamily="34" charset="-120"/>
              </a:rPr>
              <a:t>The standard deviation of a sensor over a sliding time window.
</a:t>
            </a:r>
            <a:pPr indent="0" marL="0">
              <a:buNone/>
            </a:pPr>
            <a:r>
              <a:rPr lang="en-US" sz="1200" b="1" dirty="0">
                <a:solidFill>
                  <a:srgbClr val="0D9488"/>
                </a:solidFill>
                <a:latin typeface="Calibri" pitchFamily="34" charset="0"/>
                <a:ea typeface="Calibri" pitchFamily="34" charset="-122"/>
                <a:cs typeface="Calibri" pitchFamily="34" charset="-120"/>
              </a:rPr>
              <a:t>Calculation:
</a:t>
            </a:r>
            <a:pPr indent="0" marL="0">
              <a:buNone/>
            </a:pPr>
            <a:r>
              <a:rPr lang="en-US" sz="1100" dirty="0">
                <a:solidFill>
                  <a:srgbClr val="374151"/>
                </a:solidFill>
                <a:latin typeface="Consolas" pitchFamily="34" charset="0"/>
                <a:ea typeface="Consolas" pitchFamily="34" charset="-122"/>
                <a:cs typeface="Consolas" pitchFamily="34" charset="-120"/>
              </a:rPr>
              <a:t>Std(X, w) = Sqrt( (1/w) * Sum( (X_t-i - Mean)^2 ) )  (w = 10, 30, 60 mins)
</a:t>
            </a:r>
            <a:pPr indent="0" marL="0">
              <a:buNone/>
            </a:pPr>
            <a:r>
              <a:rPr lang="en-US" sz="1200" b="1" dirty="0">
                <a:solidFill>
                  <a:srgbClr val="0D9488"/>
                </a:solidFill>
                <a:latin typeface="Calibri" pitchFamily="34" charset="0"/>
                <a:ea typeface="Calibri" pitchFamily="34" charset="-122"/>
                <a:cs typeface="Calibri" pitchFamily="34" charset="-120"/>
              </a:rPr>
              <a:t>Operational Value:
</a:t>
            </a:r>
            <a:pPr indent="0" marL="0">
              <a:buNone/>
            </a:pPr>
            <a:r>
              <a:rPr lang="en-US" sz="1100" dirty="0">
                <a:solidFill>
                  <a:srgbClr val="374151"/>
                </a:solidFill>
                <a:latin typeface="Calibri" pitchFamily="34" charset="0"/>
                <a:ea typeface="Calibri" pitchFamily="34" charset="-122"/>
                <a:cs typeface="Calibri" pitchFamily="34" charset="-120"/>
              </a:rPr>
              <a:t>Measures process instability. Rapid pressure or flow oscillations indicate column flooding or unstable control loops, which often occur immediately before thermal upsets.</a:t>
            </a:r>
            <a:endParaRPr lang="en-US" sz="1200" dirty="0"/>
          </a:p>
        </p:txBody>
      </p:sp>
      <p:sp>
        <p:nvSpPr>
          <p:cNvPr id="7" name="Shape 5"/>
          <p:cNvSpPr/>
          <p:nvPr/>
        </p:nvSpPr>
        <p:spPr>
          <a:xfrm>
            <a:off x="475488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749040" cy="73152"/>
          </a:xfrm>
          <a:prstGeom prst="rect">
            <a:avLst/>
          </a:prstGeom>
          <a:solidFill>
            <a:srgbClr val="0A1931"/>
          </a:solidFill>
          <a:ln w="12700">
            <a:solidFill>
              <a:srgbClr val="333333"/>
            </a:solidFill>
            <a:prstDash val="solid"/>
          </a:ln>
        </p:spPr>
      </p:sp>
      <p:sp>
        <p:nvSpPr>
          <p:cNvPr id="9" name="Text 7"/>
          <p:cNvSpPr/>
          <p:nvPr/>
        </p:nvSpPr>
        <p:spPr>
          <a:xfrm>
            <a:off x="5029200" y="146304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Differences (Rate of Change)</a:t>
            </a:r>
            <a:endParaRPr lang="en-US" sz="2000" dirty="0"/>
          </a:p>
        </p:txBody>
      </p:sp>
      <p:sp>
        <p:nvSpPr>
          <p:cNvPr id="10" name="Text 8"/>
          <p:cNvSpPr/>
          <p:nvPr/>
        </p:nvSpPr>
        <p:spPr>
          <a:xfrm>
            <a:off x="5029200" y="1920240"/>
            <a:ext cx="3200400" cy="25603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Definition:
</a:t>
            </a:r>
            <a:pPr indent="0" marL="0">
              <a:buNone/>
            </a:pPr>
            <a:r>
              <a:rPr lang="en-US" sz="1100" dirty="0">
                <a:solidFill>
                  <a:srgbClr val="374151"/>
                </a:solidFill>
                <a:latin typeface="Calibri" pitchFamily="34" charset="0"/>
                <a:ea typeface="Calibri" pitchFamily="34" charset="-122"/>
                <a:cs typeface="Calibri" pitchFamily="34" charset="-120"/>
              </a:rPr>
              <a:t>The difference between current value and historical value (derivative).
</a:t>
            </a:r>
            <a:pPr indent="0" marL="0">
              <a:buNone/>
            </a:pPr>
            <a:r>
              <a:rPr lang="en-US" sz="1200" b="1" dirty="0">
                <a:solidFill>
                  <a:srgbClr val="0D9488"/>
                </a:solidFill>
                <a:latin typeface="Calibri" pitchFamily="34" charset="0"/>
                <a:ea typeface="Calibri" pitchFamily="34" charset="-122"/>
                <a:cs typeface="Calibri" pitchFamily="34" charset="-120"/>
              </a:rPr>
              <a:t>Calculation:
</a:t>
            </a:r>
            <a:pPr indent="0" marL="0">
              <a:buNone/>
            </a:pPr>
            <a:r>
              <a:rPr lang="en-US" sz="1100" dirty="0">
                <a:solidFill>
                  <a:srgbClr val="374151"/>
                </a:solidFill>
                <a:latin typeface="Consolas" pitchFamily="34" charset="0"/>
                <a:ea typeface="Consolas" pitchFamily="34" charset="-122"/>
                <a:cs typeface="Consolas" pitchFamily="34" charset="-120"/>
              </a:rPr>
              <a:t>Diff(X, d) = X_t - X_t-d  (d = 5, 15, 30 minutes)
</a:t>
            </a:r>
            <a:pPr indent="0" marL="0">
              <a:buNone/>
            </a:pPr>
            <a:r>
              <a:rPr lang="en-US" sz="1200" b="1" dirty="0">
                <a:solidFill>
                  <a:srgbClr val="0D9488"/>
                </a:solidFill>
                <a:latin typeface="Calibri" pitchFamily="34" charset="0"/>
                <a:ea typeface="Calibri" pitchFamily="34" charset="-122"/>
                <a:cs typeface="Calibri" pitchFamily="34" charset="-120"/>
              </a:rPr>
              <a:t>Operational Value:
</a:t>
            </a:r>
            <a:pPr indent="0" marL="0">
              <a:buNone/>
            </a:pPr>
            <a:r>
              <a:rPr lang="en-US" sz="1100" dirty="0">
                <a:solidFill>
                  <a:srgbClr val="374151"/>
                </a:solidFill>
                <a:latin typeface="Calibri" pitchFamily="34" charset="0"/>
                <a:ea typeface="Calibri" pitchFamily="34" charset="-122"/>
                <a:cs typeface="Calibri" pitchFamily="34" charset="-120"/>
              </a:rPr>
              <a:t>Measures the rate of thermal change (velocity). A large positive difference shows a rapid heat build-up. This helps the model anticipate threshold crossings long before they occur.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Feature Engineering &amp; Preprocessing</a:t>
            </a:r>
            <a:endParaRPr lang="en-US" sz="3600" dirty="0"/>
          </a:p>
        </p:txBody>
      </p:sp>
      <p:sp>
        <p:nvSpPr>
          <p:cNvPr id="3" name="Shape 1"/>
          <p:cNvSpPr/>
          <p:nvPr/>
        </p:nvSpPr>
        <p:spPr>
          <a:xfrm>
            <a:off x="548640" y="1463040"/>
            <a:ext cx="1828800" cy="30175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1280160" y="1645920"/>
            <a:ext cx="365760" cy="365760"/>
          </a:xfrm>
          <a:prstGeom prst="ellipse">
            <a:avLst/>
          </a:prstGeom>
          <a:solidFill>
            <a:srgbClr val="0D9488"/>
          </a:solidFill>
          <a:ln w="12700">
            <a:solidFill>
              <a:srgbClr val="333333"/>
            </a:solidFill>
            <a:prstDash val="solid"/>
          </a:ln>
        </p:spPr>
      </p:sp>
      <p:sp>
        <p:nvSpPr>
          <p:cNvPr id="5" name="Text 3"/>
          <p:cNvSpPr/>
          <p:nvPr/>
        </p:nvSpPr>
        <p:spPr>
          <a:xfrm>
            <a:off x="1280160" y="1645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6" name="Text 4"/>
          <p:cNvSpPr/>
          <p:nvPr/>
        </p:nvSpPr>
        <p:spPr>
          <a:xfrm>
            <a:off x="640080" y="2194560"/>
            <a:ext cx="1645920" cy="365760"/>
          </a:xfrm>
          <a:prstGeom prst="rect">
            <a:avLst/>
          </a:prstGeom>
          <a:noFill/>
          <a:ln/>
        </p:spPr>
        <p:txBody>
          <a:bodyPr wrap="square" lIns="0" tIns="0" rIns="0" bIns="0" rtlCol="0" anchor="ctr"/>
          <a:lstStyle/>
          <a:p>
            <a:pPr algn="ctr" indent="0" marL="0">
              <a:buNone/>
            </a:pPr>
            <a:r>
              <a:rPr lang="en-US" sz="1400" b="1" dirty="0">
                <a:solidFill>
                  <a:srgbClr val="0A1931"/>
                </a:solidFill>
                <a:latin typeface="Trebuchet MS" pitchFamily="34" charset="0"/>
                <a:ea typeface="Trebuchet MS" pitchFamily="34" charset="-122"/>
                <a:cs typeface="Trebuchet MS" pitchFamily="34" charset="-120"/>
              </a:rPr>
              <a:t>Time-Alignment</a:t>
            </a:r>
            <a:endParaRPr lang="en-US" sz="1400" dirty="0"/>
          </a:p>
        </p:txBody>
      </p:sp>
      <p:sp>
        <p:nvSpPr>
          <p:cNvPr id="7" name="Text 5"/>
          <p:cNvSpPr/>
          <p:nvPr/>
        </p:nvSpPr>
        <p:spPr>
          <a:xfrm>
            <a:off x="640080" y="2651760"/>
            <a:ext cx="1645920" cy="1645920"/>
          </a:xfrm>
          <a:prstGeom prst="rect">
            <a:avLst/>
          </a:prstGeom>
          <a:noFill/>
          <a:ln/>
        </p:spPr>
        <p:txBody>
          <a:bodyPr wrap="square" lIns="0" tIns="0" rIns="0" bIns="0" rtlCol="0" anchor="ctr"/>
          <a:lstStyle/>
          <a:p>
            <a:pPr algn="l" indent="0" marL="0">
              <a:buNone/>
            </a:pPr>
            <a:r>
              <a:rPr lang="en-US" sz="1100" dirty="0">
                <a:solidFill>
                  <a:srgbClr val="374151"/>
                </a:solidFill>
                <a:latin typeface="Calibri" pitchFamily="34" charset="0"/>
                <a:ea typeface="Calibri" pitchFamily="34" charset="-122"/>
                <a:cs typeface="Calibri" pitchFamily="34" charset="-120"/>
              </a:rPr>
              <a:t>Reindexed to a regular 1-minute grid. Shutdown periods placed as NaNs to prevent false cross-gap rolling window averages.</a:t>
            </a:r>
            <a:endParaRPr lang="en-US" sz="1100" dirty="0"/>
          </a:p>
        </p:txBody>
      </p:sp>
      <p:sp>
        <p:nvSpPr>
          <p:cNvPr id="8" name="Text 6"/>
          <p:cNvSpPr/>
          <p:nvPr/>
        </p:nvSpPr>
        <p:spPr>
          <a:xfrm>
            <a:off x="2377440" y="2743200"/>
            <a:ext cx="182880" cy="365760"/>
          </a:xfrm>
          <a:prstGeom prst="rect">
            <a:avLst/>
          </a:prstGeom>
          <a:noFill/>
          <a:ln/>
        </p:spPr>
        <p:txBody>
          <a:bodyPr wrap="square" rtlCol="0" anchor="ctr"/>
          <a:lstStyle/>
          <a:p>
            <a:pPr algn="ctr" indent="0" marL="0">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560320" y="1463040"/>
            <a:ext cx="1828800" cy="30175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3291840" y="1645920"/>
            <a:ext cx="365760" cy="365760"/>
          </a:xfrm>
          <a:prstGeom prst="ellipse">
            <a:avLst/>
          </a:prstGeom>
          <a:solidFill>
            <a:srgbClr val="0D9488"/>
          </a:solidFill>
          <a:ln w="12700">
            <a:solidFill>
              <a:srgbClr val="333333"/>
            </a:solidFill>
            <a:prstDash val="solid"/>
          </a:ln>
        </p:spPr>
      </p:sp>
      <p:sp>
        <p:nvSpPr>
          <p:cNvPr id="11" name="Text 9"/>
          <p:cNvSpPr/>
          <p:nvPr/>
        </p:nvSpPr>
        <p:spPr>
          <a:xfrm>
            <a:off x="3291840" y="1645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2" name="Text 10"/>
          <p:cNvSpPr/>
          <p:nvPr/>
        </p:nvSpPr>
        <p:spPr>
          <a:xfrm>
            <a:off x="2651760" y="2194560"/>
            <a:ext cx="1645920" cy="365760"/>
          </a:xfrm>
          <a:prstGeom prst="rect">
            <a:avLst/>
          </a:prstGeom>
          <a:noFill/>
          <a:ln/>
        </p:spPr>
        <p:txBody>
          <a:bodyPr wrap="square" lIns="0" tIns="0" rIns="0" bIns="0" rtlCol="0" anchor="ctr"/>
          <a:lstStyle/>
          <a:p>
            <a:pPr algn="ctr" indent="0" marL="0">
              <a:buNone/>
            </a:pPr>
            <a:r>
              <a:rPr lang="en-US" sz="1400" b="1" dirty="0">
                <a:solidFill>
                  <a:srgbClr val="0A1931"/>
                </a:solidFill>
                <a:latin typeface="Trebuchet MS" pitchFamily="34" charset="0"/>
                <a:ea typeface="Trebuchet MS" pitchFamily="34" charset="-122"/>
                <a:cs typeface="Trebuchet MS" pitchFamily="34" charset="-120"/>
              </a:rPr>
              <a:t>Feature Construction</a:t>
            </a:r>
            <a:endParaRPr lang="en-US" sz="1400" dirty="0"/>
          </a:p>
        </p:txBody>
      </p:sp>
      <p:sp>
        <p:nvSpPr>
          <p:cNvPr id="13" name="Text 11"/>
          <p:cNvSpPr/>
          <p:nvPr/>
        </p:nvSpPr>
        <p:spPr>
          <a:xfrm>
            <a:off x="2651760" y="2651760"/>
            <a:ext cx="1645920" cy="1645920"/>
          </a:xfrm>
          <a:prstGeom prst="rect">
            <a:avLst/>
          </a:prstGeom>
          <a:noFill/>
          <a:ln/>
        </p:spPr>
        <p:txBody>
          <a:bodyPr wrap="square" lIns="0" tIns="0" rIns="0" bIns="0" rtlCol="0" anchor="ctr"/>
          <a:lstStyle/>
          <a:p>
            <a:pPr algn="l" indent="0" marL="0">
              <a:buNone/>
            </a:pPr>
            <a:r>
              <a:rPr lang="en-US" sz="1100" dirty="0">
                <a:solidFill>
                  <a:srgbClr val="374151"/>
                </a:solidFill>
                <a:latin typeface="Calibri" pitchFamily="34" charset="0"/>
                <a:ea typeface="Calibri" pitchFamily="34" charset="-122"/>
                <a:cs typeface="Calibri" pitchFamily="34" charset="-120"/>
              </a:rPr>
              <a:t>Created 132 features: lags (1-60m), rolling mean/std/min/max (10, 30, 60m), and rates of change (5, 15, 30m diffs).</a:t>
            </a:r>
            <a:endParaRPr lang="en-US" sz="1100" dirty="0"/>
          </a:p>
        </p:txBody>
      </p:sp>
      <p:sp>
        <p:nvSpPr>
          <p:cNvPr id="14" name="Text 12"/>
          <p:cNvSpPr/>
          <p:nvPr/>
        </p:nvSpPr>
        <p:spPr>
          <a:xfrm>
            <a:off x="4389120" y="2743200"/>
            <a:ext cx="182880" cy="365760"/>
          </a:xfrm>
          <a:prstGeom prst="rect">
            <a:avLst/>
          </a:prstGeom>
          <a:noFill/>
          <a:ln/>
        </p:spPr>
        <p:txBody>
          <a:bodyPr wrap="square" rtlCol="0" anchor="ctr"/>
          <a:lstStyle/>
          <a:p>
            <a:pPr algn="ctr" indent="0" marL="0">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4572000" y="1463040"/>
            <a:ext cx="1828800" cy="30175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6" name="Shape 14"/>
          <p:cNvSpPr/>
          <p:nvPr/>
        </p:nvSpPr>
        <p:spPr>
          <a:xfrm>
            <a:off x="5303520" y="1645920"/>
            <a:ext cx="365760" cy="365760"/>
          </a:xfrm>
          <a:prstGeom prst="ellipse">
            <a:avLst/>
          </a:prstGeom>
          <a:solidFill>
            <a:srgbClr val="0D9488"/>
          </a:solidFill>
          <a:ln w="12700">
            <a:solidFill>
              <a:srgbClr val="333333"/>
            </a:solidFill>
            <a:prstDash val="solid"/>
          </a:ln>
        </p:spPr>
      </p:sp>
      <p:sp>
        <p:nvSpPr>
          <p:cNvPr id="17" name="Text 15"/>
          <p:cNvSpPr/>
          <p:nvPr/>
        </p:nvSpPr>
        <p:spPr>
          <a:xfrm>
            <a:off x="5303520" y="1645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8" name="Text 16"/>
          <p:cNvSpPr/>
          <p:nvPr/>
        </p:nvSpPr>
        <p:spPr>
          <a:xfrm>
            <a:off x="4663440" y="2194560"/>
            <a:ext cx="1645920" cy="365760"/>
          </a:xfrm>
          <a:prstGeom prst="rect">
            <a:avLst/>
          </a:prstGeom>
          <a:noFill/>
          <a:ln/>
        </p:spPr>
        <p:txBody>
          <a:bodyPr wrap="square" lIns="0" tIns="0" rIns="0" bIns="0" rtlCol="0" anchor="ctr"/>
          <a:lstStyle/>
          <a:p>
            <a:pPr algn="ctr" indent="0" marL="0">
              <a:buNone/>
            </a:pPr>
            <a:r>
              <a:rPr lang="en-US" sz="1400" b="1" dirty="0">
                <a:solidFill>
                  <a:srgbClr val="0A1931"/>
                </a:solidFill>
                <a:latin typeface="Trebuchet MS" pitchFamily="34" charset="0"/>
                <a:ea typeface="Trebuchet MS" pitchFamily="34" charset="-122"/>
                <a:cs typeface="Trebuchet MS" pitchFamily="34" charset="-120"/>
              </a:rPr>
              <a:t>Target Offsets</a:t>
            </a:r>
            <a:endParaRPr lang="en-US" sz="1400" dirty="0"/>
          </a:p>
        </p:txBody>
      </p:sp>
      <p:sp>
        <p:nvSpPr>
          <p:cNvPr id="19" name="Text 17"/>
          <p:cNvSpPr/>
          <p:nvPr/>
        </p:nvSpPr>
        <p:spPr>
          <a:xfrm>
            <a:off x="4663440" y="2651760"/>
            <a:ext cx="1645920" cy="1645920"/>
          </a:xfrm>
          <a:prstGeom prst="rect">
            <a:avLst/>
          </a:prstGeom>
          <a:noFill/>
          <a:ln/>
        </p:spPr>
        <p:txBody>
          <a:bodyPr wrap="square" lIns="0" tIns="0" rIns="0" bIns="0" rtlCol="0" anchor="ctr"/>
          <a:lstStyle/>
          <a:p>
            <a:pPr algn="l" indent="0" marL="0">
              <a:buNone/>
            </a:pPr>
            <a:r>
              <a:rPr lang="en-US" sz="1100" dirty="0">
                <a:solidFill>
                  <a:srgbClr val="374151"/>
                </a:solidFill>
                <a:latin typeface="Calibri" pitchFamily="34" charset="0"/>
                <a:ea typeface="Calibri" pitchFamily="34" charset="-122"/>
                <a:cs typeface="Calibri" pitchFamily="34" charset="-120"/>
              </a:rPr>
              <a:t>Shifted target column by -15m, -30m, and -60m to align model input features with the future forecast horizons.</a:t>
            </a:r>
            <a:endParaRPr lang="en-US" sz="1100" dirty="0"/>
          </a:p>
        </p:txBody>
      </p:sp>
      <p:sp>
        <p:nvSpPr>
          <p:cNvPr id="20" name="Text 18"/>
          <p:cNvSpPr/>
          <p:nvPr/>
        </p:nvSpPr>
        <p:spPr>
          <a:xfrm>
            <a:off x="6400800" y="2743200"/>
            <a:ext cx="182880" cy="365760"/>
          </a:xfrm>
          <a:prstGeom prst="rect">
            <a:avLst/>
          </a:prstGeom>
          <a:noFill/>
          <a:ln/>
        </p:spPr>
        <p:txBody>
          <a:bodyPr wrap="square" rtlCol="0" anchor="ctr"/>
          <a:lstStyle/>
          <a:p>
            <a:pPr algn="ctr" indent="0" marL="0">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6583680" y="1463040"/>
            <a:ext cx="1828800" cy="30175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22" name="Shape 20"/>
          <p:cNvSpPr/>
          <p:nvPr/>
        </p:nvSpPr>
        <p:spPr>
          <a:xfrm>
            <a:off x="7315200" y="1645920"/>
            <a:ext cx="365760" cy="365760"/>
          </a:xfrm>
          <a:prstGeom prst="ellipse">
            <a:avLst/>
          </a:prstGeom>
          <a:solidFill>
            <a:srgbClr val="0D9488"/>
          </a:solidFill>
          <a:ln w="12700">
            <a:solidFill>
              <a:srgbClr val="333333"/>
            </a:solidFill>
            <a:prstDash val="solid"/>
          </a:ln>
        </p:spPr>
      </p:sp>
      <p:sp>
        <p:nvSpPr>
          <p:cNvPr id="23" name="Text 21"/>
          <p:cNvSpPr/>
          <p:nvPr/>
        </p:nvSpPr>
        <p:spPr>
          <a:xfrm>
            <a:off x="7315200" y="1645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24" name="Text 22"/>
          <p:cNvSpPr/>
          <p:nvPr/>
        </p:nvSpPr>
        <p:spPr>
          <a:xfrm>
            <a:off x="6675120" y="2194560"/>
            <a:ext cx="1645920" cy="365760"/>
          </a:xfrm>
          <a:prstGeom prst="rect">
            <a:avLst/>
          </a:prstGeom>
          <a:noFill/>
          <a:ln/>
        </p:spPr>
        <p:txBody>
          <a:bodyPr wrap="square" lIns="0" tIns="0" rIns="0" bIns="0" rtlCol="0" anchor="ctr"/>
          <a:lstStyle/>
          <a:p>
            <a:pPr algn="ctr" indent="0" marL="0">
              <a:buNone/>
            </a:pPr>
            <a:r>
              <a:rPr lang="en-US" sz="1400" b="1" dirty="0">
                <a:solidFill>
                  <a:srgbClr val="0A1931"/>
                </a:solidFill>
                <a:latin typeface="Trebuchet MS" pitchFamily="34" charset="0"/>
                <a:ea typeface="Trebuchet MS" pitchFamily="34" charset="-122"/>
                <a:cs typeface="Trebuchet MS" pitchFamily="34" charset="-120"/>
              </a:rPr>
              <a:t>Chronological Split</a:t>
            </a:r>
            <a:endParaRPr lang="en-US" sz="1400" dirty="0"/>
          </a:p>
        </p:txBody>
      </p:sp>
      <p:sp>
        <p:nvSpPr>
          <p:cNvPr id="25" name="Text 23"/>
          <p:cNvSpPr/>
          <p:nvPr/>
        </p:nvSpPr>
        <p:spPr>
          <a:xfrm>
            <a:off x="6675120" y="2651760"/>
            <a:ext cx="1645920" cy="1645920"/>
          </a:xfrm>
          <a:prstGeom prst="rect">
            <a:avLst/>
          </a:prstGeom>
          <a:noFill/>
          <a:ln/>
        </p:spPr>
        <p:txBody>
          <a:bodyPr wrap="square" lIns="0" tIns="0" rIns="0" bIns="0" rtlCol="0" anchor="ctr"/>
          <a:lstStyle/>
          <a:p>
            <a:pPr algn="l" indent="0" marL="0">
              <a:buNone/>
            </a:pPr>
            <a:r>
              <a:rPr lang="en-US" sz="1100" dirty="0">
                <a:solidFill>
                  <a:srgbClr val="374151"/>
                </a:solidFill>
                <a:latin typeface="Calibri" pitchFamily="34" charset="0"/>
                <a:ea typeface="Calibri" pitchFamily="34" charset="-122"/>
                <a:cs typeface="Calibri" pitchFamily="34" charset="-120"/>
              </a:rPr>
              <a:t>Divided data: Train (22-24), Val (H1 25), Test (H2 25). Prevents time-series data leakage and secures model reliability.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Step 1 – Time-Alignment &amp; Quality Control</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37160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Aligning Chronological Gaps</a:t>
            </a:r>
            <a:endParaRPr lang="en-US" sz="2000" dirty="0"/>
          </a:p>
        </p:txBody>
      </p:sp>
      <p:sp>
        <p:nvSpPr>
          <p:cNvPr id="6" name="Text 4"/>
          <p:cNvSpPr/>
          <p:nvPr/>
        </p:nvSpPr>
        <p:spPr>
          <a:xfrm>
            <a:off x="822960" y="1828800"/>
            <a:ext cx="3200400" cy="265176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The Challenge of Shutdown Gaps
</a:t>
            </a:r>
            <a:pPr indent="0" marL="0">
              <a:buNone/>
            </a:pPr>
            <a:r>
              <a:rPr lang="en-US" sz="1100" dirty="0">
                <a:solidFill>
                  <a:srgbClr val="374151"/>
                </a:solidFill>
                <a:latin typeface="Calibri" pitchFamily="34" charset="0"/>
                <a:ea typeface="Calibri" pitchFamily="34" charset="-122"/>
                <a:cs typeface="Calibri" pitchFamily="34" charset="-120"/>
              </a:rPr>
              <a:t>Industrial columns experience shutdowns. Removing trip periods results in timestamp jumps. Calculating rolling statistics across these jumps leads to 'temporal teleportation', combining data weeks apart as if they were adjacent minutes.
</a:t>
            </a:r>
            <a:pPr indent="0" marL="0">
              <a:buNone/>
            </a:pPr>
            <a:r>
              <a:rPr lang="en-US" sz="1300" b="1" dirty="0">
                <a:solidFill>
                  <a:srgbClr val="0A1931"/>
                </a:solidFill>
                <a:latin typeface="Calibri" pitchFamily="34" charset="0"/>
                <a:ea typeface="Calibri" pitchFamily="34" charset="-122"/>
                <a:cs typeface="Calibri" pitchFamily="34" charset="-120"/>
              </a:rPr>
              <a:t>The Regular Grid Solution
</a:t>
            </a:r>
            <a:pPr indent="0" marL="0">
              <a:buNone/>
            </a:pPr>
            <a:r>
              <a:rPr lang="en-US" sz="1100" dirty="0">
                <a:solidFill>
                  <a:srgbClr val="374151"/>
                </a:solidFill>
                <a:latin typeface="Calibri" pitchFamily="34" charset="0"/>
                <a:ea typeface="Calibri" pitchFamily="34" charset="-122"/>
                <a:cs typeface="Calibri" pitchFamily="34" charset="-120"/>
              </a:rPr>
              <a:t>Reindexed the data to a strict 1-minute grid, filling missing minutes as NaNs. Forward-filling (ffill) is strictly capped at 5 minutes for transient sensor drops, preventing synthetic data leakage during major shutdowns.</a:t>
            </a:r>
            <a:endParaRPr lang="en-US" sz="1300" dirty="0"/>
          </a:p>
        </p:txBody>
      </p:sp>
      <p:sp>
        <p:nvSpPr>
          <p:cNvPr id="7" name="Shape 5"/>
          <p:cNvSpPr/>
          <p:nvPr/>
        </p:nvSpPr>
        <p:spPr>
          <a:xfrm>
            <a:off x="4754880" y="1188720"/>
            <a:ext cx="3840480" cy="3474720"/>
          </a:xfrm>
          <a:prstGeom prst="rect">
            <a:avLst/>
          </a:prstGeom>
          <a:solidFill>
            <a:srgbClr val="FFFFFF"/>
          </a:solidFill>
          <a:ln w="25400">
            <a:solidFill>
              <a:srgbClr val="0D9488"/>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840480" cy="73152"/>
          </a:xfrm>
          <a:prstGeom prst="rect">
            <a:avLst/>
          </a:prstGeom>
          <a:solidFill>
            <a:srgbClr val="0A1931"/>
          </a:solidFill>
          <a:ln w="12700">
            <a:solidFill>
              <a:srgbClr val="333333"/>
            </a:solidFill>
            <a:prstDash val="solid"/>
          </a:ln>
        </p:spPr>
      </p:sp>
      <p:sp>
        <p:nvSpPr>
          <p:cNvPr id="9" name="Text 7"/>
          <p:cNvSpPr/>
          <p:nvPr/>
        </p:nvSpPr>
        <p:spPr>
          <a:xfrm>
            <a:off x="5029200" y="1371600"/>
            <a:ext cx="329184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Process Quality Control Rules</a:t>
            </a:r>
            <a:endParaRPr lang="en-US" sz="2000" dirty="0"/>
          </a:p>
        </p:txBody>
      </p:sp>
      <p:sp>
        <p:nvSpPr>
          <p:cNvPr id="10" name="Text 8"/>
          <p:cNvSpPr/>
          <p:nvPr/>
        </p:nvSpPr>
        <p:spPr>
          <a:xfrm>
            <a:off x="5029200" y="1828800"/>
            <a:ext cx="3291840" cy="2651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Data Completeness
</a:t>
            </a:r>
            <a:pPr indent="0" marL="0">
              <a:buNone/>
            </a:pPr>
            <a:r>
              <a:rPr lang="en-US" sz="1100" dirty="0">
                <a:solidFill>
                  <a:srgbClr val="374151"/>
                </a:solidFill>
                <a:latin typeface="Calibri" pitchFamily="34" charset="0"/>
                <a:ea typeface="Calibri" pitchFamily="34" charset="-122"/>
                <a:cs typeface="Calibri" pitchFamily="34" charset="-120"/>
              </a:rPr>
              <a:t>Average tag completeness is 99.96%. Shutdown periods are successfully isolated as NaN rows. Rolling features ignore these values or handle them strictly, ensuring model integrity.
</a:t>
            </a:r>
            <a:pPr indent="0" marL="0">
              <a:buNone/>
            </a:pPr>
            <a:r>
              <a:rPr lang="en-US" sz="1300" b="1" dirty="0">
                <a:solidFill>
                  <a:srgbClr val="0D9488"/>
                </a:solidFill>
                <a:latin typeface="Calibri" pitchFamily="34" charset="0"/>
                <a:ea typeface="Calibri" pitchFamily="34" charset="-122"/>
                <a:cs typeface="Calibri" pitchFamily="34" charset="-120"/>
              </a:rPr>
              <a:t>Rolling Window Integrity
</a:t>
            </a:r>
            <a:pPr indent="0" marL="0">
              <a:buNone/>
            </a:pPr>
            <a:r>
              <a:rPr lang="en-US" sz="1100" dirty="0">
                <a:solidFill>
                  <a:srgbClr val="374151"/>
                </a:solidFill>
                <a:latin typeface="Calibri" pitchFamily="34" charset="0"/>
                <a:ea typeface="Calibri" pitchFamily="34" charset="-122"/>
                <a:cs typeface="Calibri" pitchFamily="34" charset="-120"/>
              </a:rPr>
              <a:t>Because the index is strictly regular, a rolling window of 60 is guaranteed to represent exactly 60 minutes of elapsed time, avoiding data misalignment.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Step 2 – Feature Construction Library</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37160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132 Engineered Features</a:t>
            </a:r>
            <a:endParaRPr lang="en-US" sz="2000" dirty="0"/>
          </a:p>
        </p:txBody>
      </p:sp>
      <p:sp>
        <p:nvSpPr>
          <p:cNvPr id="6" name="Text 4"/>
          <p:cNvSpPr/>
          <p:nvPr/>
        </p:nvSpPr>
        <p:spPr>
          <a:xfrm>
            <a:off x="822960" y="1828800"/>
            <a:ext cx="3200400" cy="265176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Lags (Time Context)
</a:t>
            </a:r>
            <a:pPr indent="0" marL="0">
              <a:buNone/>
            </a:pPr>
            <a:r>
              <a:rPr lang="en-US" sz="1100" dirty="0">
                <a:solidFill>
                  <a:srgbClr val="374151"/>
                </a:solidFill>
                <a:latin typeface="Calibri" pitchFamily="34" charset="0"/>
                <a:ea typeface="Calibri" pitchFamily="34" charset="-122"/>
                <a:cs typeface="Calibri" pitchFamily="34" charset="-120"/>
              </a:rPr>
              <a:t>Captures value momentum. Shifting sensors backward by 1m, 2m, 5m, 10m, 15m, 30m, and 60m lets the model see current values relative to the past.
</a:t>
            </a:r>
            <a:pPr indent="0" marL="0">
              <a:buNone/>
            </a:pPr>
            <a:r>
              <a:rPr lang="en-US" sz="1300" b="1" dirty="0">
                <a:solidFill>
                  <a:srgbClr val="0A1931"/>
                </a:solidFill>
                <a:latin typeface="Calibri" pitchFamily="34" charset="0"/>
                <a:ea typeface="Calibri" pitchFamily="34" charset="-122"/>
                <a:cs typeface="Calibri" pitchFamily="34" charset="-120"/>
              </a:rPr>
              <a:t>Rolling Statistics
</a:t>
            </a:r>
            <a:pPr indent="0" marL="0">
              <a:buNone/>
            </a:pPr>
            <a:r>
              <a:rPr lang="en-US" sz="1100" dirty="0">
                <a:solidFill>
                  <a:srgbClr val="374151"/>
                </a:solidFill>
                <a:latin typeface="Calibri" pitchFamily="34" charset="0"/>
                <a:ea typeface="Calibri" pitchFamily="34" charset="-122"/>
                <a:cs typeface="Calibri" pitchFamily="34" charset="-120"/>
              </a:rPr>
              <a:t>Standard deviations over 10m, 30m, and 60m identify process volatility. Means smooth out sensor noise to show slow systemic drift.
</a:t>
            </a:r>
            <a:pPr indent="0" marL="0">
              <a:buNone/>
            </a:pPr>
            <a:r>
              <a:rPr lang="en-US" sz="1300" b="1" dirty="0">
                <a:solidFill>
                  <a:srgbClr val="0A1931"/>
                </a:solidFill>
                <a:latin typeface="Calibri" pitchFamily="34" charset="0"/>
                <a:ea typeface="Calibri" pitchFamily="34" charset="-122"/>
                <a:cs typeface="Calibri" pitchFamily="34" charset="-120"/>
              </a:rPr>
              <a:t>Differences (Velocity)
</a:t>
            </a:r>
            <a:pPr indent="0" marL="0">
              <a:buNone/>
            </a:pPr>
            <a:r>
              <a:rPr lang="en-US" sz="1100" dirty="0">
                <a:solidFill>
                  <a:srgbClr val="374151"/>
                </a:solidFill>
                <a:latin typeface="Calibri" pitchFamily="34" charset="0"/>
                <a:ea typeface="Calibri" pitchFamily="34" charset="-122"/>
                <a:cs typeface="Calibri" pitchFamily="34" charset="-120"/>
              </a:rPr>
              <a:t>Computes mathematical derivatives (rate of change) over 5m, 15m, and 30m intervals.</a:t>
            </a:r>
            <a:endParaRPr lang="en-US" sz="1300" dirty="0"/>
          </a:p>
        </p:txBody>
      </p:sp>
      <p:sp>
        <p:nvSpPr>
          <p:cNvPr id="7" name="Shape 5"/>
          <p:cNvSpPr/>
          <p:nvPr/>
        </p:nvSpPr>
        <p:spPr>
          <a:xfrm>
            <a:off x="4754880" y="1188720"/>
            <a:ext cx="3840480" cy="3474720"/>
          </a:xfrm>
          <a:prstGeom prst="rect">
            <a:avLst/>
          </a:prstGeom>
          <a:solidFill>
            <a:srgbClr val="FFFFFF"/>
          </a:solidFill>
          <a:ln w="25400">
            <a:solidFill>
              <a:srgbClr val="0D9488"/>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840480" cy="73152"/>
          </a:xfrm>
          <a:prstGeom prst="rect">
            <a:avLst/>
          </a:prstGeom>
          <a:solidFill>
            <a:srgbClr val="0A1931"/>
          </a:solidFill>
          <a:ln w="12700">
            <a:solidFill>
              <a:srgbClr val="333333"/>
            </a:solidFill>
            <a:prstDash val="solid"/>
          </a:ln>
        </p:spPr>
      </p:sp>
      <p:sp>
        <p:nvSpPr>
          <p:cNvPr id="9" name="Text 7"/>
          <p:cNvSpPr/>
          <p:nvPr/>
        </p:nvSpPr>
        <p:spPr>
          <a:xfrm>
            <a:off x="5029200" y="1371600"/>
            <a:ext cx="329184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Tree Ensemble Strengths</a:t>
            </a:r>
            <a:endParaRPr lang="en-US" sz="2000" dirty="0"/>
          </a:p>
        </p:txBody>
      </p:sp>
      <p:sp>
        <p:nvSpPr>
          <p:cNvPr id="10" name="Text 8"/>
          <p:cNvSpPr/>
          <p:nvPr/>
        </p:nvSpPr>
        <p:spPr>
          <a:xfrm>
            <a:off x="5029200" y="1828800"/>
            <a:ext cx="3291840" cy="2651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Handling Multicollinearity
</a:t>
            </a:r>
            <a:pPr indent="0" marL="0">
              <a:buNone/>
            </a:pPr>
            <a:r>
              <a:rPr lang="en-US" sz="1100" dirty="0">
                <a:solidFill>
                  <a:srgbClr val="374151"/>
                </a:solidFill>
                <a:latin typeface="Calibri" pitchFamily="34" charset="0"/>
                <a:ea typeface="Calibri" pitchFamily="34" charset="-122"/>
                <a:cs typeface="Calibri" pitchFamily="34" charset="-120"/>
              </a:rPr>
              <a:t>Decision trees handle highly correlated (collinear) sensors naturally. Instead of failing like linear models, LightGBM chooses the best splitting variable, allowing us to include overlapping features safely.
</a:t>
            </a:r>
            <a:pPr indent="0" marL="0">
              <a:buNone/>
            </a:pPr>
            <a:r>
              <a:rPr lang="en-US" sz="1300" b="1" dirty="0">
                <a:solidFill>
                  <a:srgbClr val="0D9488"/>
                </a:solidFill>
                <a:latin typeface="Calibri" pitchFamily="34" charset="0"/>
                <a:ea typeface="Calibri" pitchFamily="34" charset="-122"/>
                <a:cs typeface="Calibri" pitchFamily="34" charset="-120"/>
              </a:rPr>
              <a:t>Non-Linear Relationships
</a:t>
            </a:r>
            <a:pPr indent="0" marL="0">
              <a:buNone/>
            </a:pPr>
            <a:r>
              <a:rPr lang="en-US" sz="1100" dirty="0">
                <a:solidFill>
                  <a:srgbClr val="374151"/>
                </a:solidFill>
                <a:latin typeface="Calibri" pitchFamily="34" charset="0"/>
                <a:ea typeface="Calibri" pitchFamily="34" charset="-122"/>
                <a:cs typeface="Calibri" pitchFamily="34" charset="-120"/>
              </a:rPr>
              <a:t>Process variables interact non-linearly. Tree architectures capture these physical thresholds without complex structural assumptions.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Step 3 – Multi-Horizon Target Offsets</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37160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Aligning Features with the Future</a:t>
            </a:r>
            <a:endParaRPr lang="en-US" sz="2000" dirty="0"/>
          </a:p>
        </p:txBody>
      </p:sp>
      <p:sp>
        <p:nvSpPr>
          <p:cNvPr id="6" name="Text 4"/>
          <p:cNvSpPr/>
          <p:nvPr/>
        </p:nvSpPr>
        <p:spPr>
          <a:xfrm>
            <a:off x="822960" y="1828800"/>
            <a:ext cx="3200400" cy="265176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Target Offsets
</a:t>
            </a:r>
            <a:pPr indent="0" marL="0">
              <a:buNone/>
            </a:pPr>
            <a:r>
              <a:rPr lang="en-US" sz="1100" dirty="0">
                <a:solidFill>
                  <a:srgbClr val="374151"/>
                </a:solidFill>
                <a:latin typeface="Calibri" pitchFamily="34" charset="0"/>
                <a:ea typeface="Calibri" pitchFamily="34" charset="-122"/>
                <a:cs typeface="Calibri" pitchFamily="34" charset="-120"/>
              </a:rPr>
              <a:t>We shift the target column (overhead temperature) backward by -5m, -15m, -30m, and -60m to align the feature vector at time t with the future temperature values at t+k.
</a:t>
            </a:r>
            <a:pPr indent="0" marL="0">
              <a:buNone/>
            </a:pPr>
            <a:r>
              <a:rPr lang="en-US" sz="1300" b="1" dirty="0">
                <a:solidFill>
                  <a:srgbClr val="0A1931"/>
                </a:solidFill>
                <a:latin typeface="Calibri" pitchFamily="34" charset="0"/>
                <a:ea typeface="Calibri" pitchFamily="34" charset="-122"/>
                <a:cs typeface="Calibri" pitchFamily="34" charset="-120"/>
              </a:rPr>
              <a:t>Why Four Independent Models?
</a:t>
            </a:r>
            <a:pPr indent="0" marL="0">
              <a:buNone/>
            </a:pPr>
            <a:r>
              <a:rPr lang="en-US" sz="1100" dirty="0">
                <a:solidFill>
                  <a:srgbClr val="374151"/>
                </a:solidFill>
                <a:latin typeface="Calibri" pitchFamily="34" charset="0"/>
                <a:ea typeface="Calibri" pitchFamily="34" charset="-122"/>
                <a:cs typeface="Calibri" pitchFamily="34" charset="-120"/>
              </a:rPr>
              <a:t>The physical predictors evolve at different rates. The 5-minute model relies heavily on recent temperature changes, whereas the 60-minute model must extract features from longer-term pressure and feed trends. Training separate models ensures maximum accuracy at each lead time.</a:t>
            </a:r>
            <a:endParaRPr lang="en-US" sz="1300" dirty="0"/>
          </a:p>
        </p:txBody>
      </p:sp>
      <p:sp>
        <p:nvSpPr>
          <p:cNvPr id="7" name="Shape 5"/>
          <p:cNvSpPr/>
          <p:nvPr/>
        </p:nvSpPr>
        <p:spPr>
          <a:xfrm>
            <a:off x="4754880" y="1188720"/>
            <a:ext cx="3840480" cy="3474720"/>
          </a:xfrm>
          <a:prstGeom prst="rect">
            <a:avLst/>
          </a:prstGeom>
          <a:solidFill>
            <a:srgbClr val="FFFFFF"/>
          </a:solidFill>
          <a:ln w="25400">
            <a:solidFill>
              <a:srgbClr val="0D9488"/>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840480" cy="73152"/>
          </a:xfrm>
          <a:prstGeom prst="rect">
            <a:avLst/>
          </a:prstGeom>
          <a:solidFill>
            <a:srgbClr val="0A1931"/>
          </a:solidFill>
          <a:ln w="12700">
            <a:solidFill>
              <a:srgbClr val="333333"/>
            </a:solidFill>
            <a:prstDash val="solid"/>
          </a:ln>
        </p:spPr>
      </p:sp>
      <p:sp>
        <p:nvSpPr>
          <p:cNvPr id="9" name="Text 7"/>
          <p:cNvSpPr/>
          <p:nvPr/>
        </p:nvSpPr>
        <p:spPr>
          <a:xfrm>
            <a:off x="5029200" y="1371600"/>
            <a:ext cx="329184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Multi-Horizon Actions</a:t>
            </a:r>
            <a:endParaRPr lang="en-US" sz="2000" dirty="0"/>
          </a:p>
        </p:txBody>
      </p:sp>
      <p:sp>
        <p:nvSpPr>
          <p:cNvPr id="10" name="Text 8"/>
          <p:cNvSpPr/>
          <p:nvPr/>
        </p:nvSpPr>
        <p:spPr>
          <a:xfrm>
            <a:off x="5029200" y="1828800"/>
            <a:ext cx="3291840" cy="2651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Alarm Prediction Horizons
</a:t>
            </a:r>
            <a:pPr indent="0" marL="0">
              <a:buNone/>
            </a:pPr>
            <a:r>
              <a:rPr lang="en-US" sz="1100" dirty="0">
                <a:solidFill>
                  <a:srgbClr val="374151"/>
                </a:solidFill>
                <a:latin typeface="Calibri" pitchFamily="34" charset="0"/>
                <a:ea typeface="Calibri" pitchFamily="34" charset="-122"/>
                <a:cs typeface="Calibri" pitchFamily="34" charset="-120"/>
              </a:rPr>
              <a:t>• 60 Min (Strategic Warning): Gives a long-term forecast allowing operators to adjust suction pressure or coordinate upstream units.
</a:t>
            </a:r>
            <a:pPr indent="0" marL="0">
              <a:buNone/>
            </a:pPr>
            <a:r>
              <a:rPr lang="en-US" sz="1100" dirty="0">
                <a:solidFill>
                  <a:srgbClr val="374151"/>
                </a:solidFill>
                <a:latin typeface="Calibri" pitchFamily="34" charset="0"/>
                <a:ea typeface="Calibri" pitchFamily="34" charset="-122"/>
                <a:cs typeface="Calibri" pitchFamily="34" charset="-120"/>
              </a:rPr>
              <a:t>• 30 Min (Tactical Warning): High-probability alert used to prepare bypass valves or adjust utility flows.
</a:t>
            </a:r>
            <a:pPr indent="0" marL="0">
              <a:buNone/>
            </a:pPr>
            <a:r>
              <a:rPr lang="en-US" sz="1100" dirty="0">
                <a:solidFill>
                  <a:srgbClr val="374151"/>
                </a:solidFill>
                <a:latin typeface="Calibri" pitchFamily="34" charset="0"/>
                <a:ea typeface="Calibri" pitchFamily="34" charset="-122"/>
                <a:cs typeface="Calibri" pitchFamily="34" charset="-120"/>
              </a:rPr>
              <a:t>• 15 Min (Critical Warning): Emergency warning with a 93% accuracy rate to activate shutdown prevention.
</a:t>
            </a:r>
            <a:pPr indent="0" marL="0">
              <a:buNone/>
            </a:pPr>
            <a:r>
              <a:rPr lang="en-US" sz="1100" dirty="0">
                <a:solidFill>
                  <a:srgbClr val="374151"/>
                </a:solidFill>
                <a:latin typeface="Calibri" pitchFamily="34" charset="0"/>
                <a:ea typeface="Calibri" pitchFamily="34" charset="-122"/>
                <a:cs typeface="Calibri" pitchFamily="34" charset="-120"/>
              </a:rPr>
              <a:t>• 5 Min (Emergency Warning): Real-time emergency trigger for immediate manual safety cooling activation and reactor trip signal checks.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Step 4 – Chronological Splitting</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37160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Securing Model Reliability</a:t>
            </a:r>
            <a:endParaRPr lang="en-US" sz="2000" dirty="0"/>
          </a:p>
        </p:txBody>
      </p:sp>
      <p:sp>
        <p:nvSpPr>
          <p:cNvPr id="6" name="Text 4"/>
          <p:cNvSpPr/>
          <p:nvPr/>
        </p:nvSpPr>
        <p:spPr>
          <a:xfrm>
            <a:off x="822960" y="1828800"/>
            <a:ext cx="3200400" cy="265176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Timeline Splits
</a:t>
            </a:r>
            <a:pPr indent="0" marL="0">
              <a:buNone/>
            </a:pPr>
            <a:r>
              <a:rPr lang="en-US" sz="1100" dirty="0">
                <a:solidFill>
                  <a:srgbClr val="374151"/>
                </a:solidFill>
                <a:latin typeface="Calibri" pitchFamily="34" charset="0"/>
                <a:ea typeface="Calibri" pitchFamily="34" charset="-122"/>
                <a:cs typeface="Calibri" pitchFamily="34" charset="-120"/>
              </a:rPr>
              <a:t>We divided our dataset chronologically:
• Train: Jan 2022 - Dec 2024
• Val: Jan 2025 - June 2025
• Test: July 2025 - Jan 2026
</a:t>
            </a:r>
            <a:pPr indent="0" marL="0">
              <a:buNone/>
            </a:pPr>
            <a:r>
              <a:rPr lang="en-US" sz="1300" b="1" dirty="0">
                <a:solidFill>
                  <a:srgbClr val="0A1931"/>
                </a:solidFill>
                <a:latin typeface="Calibri" pitchFamily="34" charset="0"/>
                <a:ea typeface="Calibri" pitchFamily="34" charset="-122"/>
                <a:cs typeface="Calibri" pitchFamily="34" charset="-120"/>
              </a:rPr>
              <a:t>Why Random Cross-Validation Fails
</a:t>
            </a:r>
            <a:pPr indent="0" marL="0">
              <a:buNone/>
            </a:pPr>
            <a:r>
              <a:rPr lang="en-US" sz="1100" dirty="0">
                <a:solidFill>
                  <a:srgbClr val="374151"/>
                </a:solidFill>
                <a:latin typeface="Calibri" pitchFamily="34" charset="0"/>
                <a:ea typeface="Calibri" pitchFamily="34" charset="-122"/>
                <a:cs typeface="Calibri" pitchFamily="34" charset="-120"/>
              </a:rPr>
              <a:t>Standard k-fold cross-validation randomly shuffles rows. This leaks future data (the target temperature at t+k) into the training folds, artificially inflating training scores while causing real-world models to fail. Chronological splits keep the training partition strictly in the past.</a:t>
            </a:r>
            <a:endParaRPr lang="en-US" sz="1300" dirty="0"/>
          </a:p>
        </p:txBody>
      </p:sp>
      <p:sp>
        <p:nvSpPr>
          <p:cNvPr id="7" name="Shape 5"/>
          <p:cNvSpPr/>
          <p:nvPr/>
        </p:nvSpPr>
        <p:spPr>
          <a:xfrm>
            <a:off x="4754880" y="1188720"/>
            <a:ext cx="3840480" cy="3474720"/>
          </a:xfrm>
          <a:prstGeom prst="rect">
            <a:avLst/>
          </a:prstGeom>
          <a:solidFill>
            <a:srgbClr val="FFFFFF"/>
          </a:solidFill>
          <a:ln w="25400">
            <a:solidFill>
              <a:srgbClr val="0D9488"/>
            </a:solidFill>
            <a:prstDash val="solid"/>
          </a:ln>
          <a:effectLst>
            <a:outerShdw sx="100000" sy="100000" kx="0" ky="0" algn="bl" rotWithShape="0" blurRad="76200" dist="25400" dir="8100000">
              <a:srgbClr val="000000">
                <a:alpha val="15000"/>
              </a:srgbClr>
            </a:outerShdw>
          </a:effectLst>
        </p:spPr>
      </p:sp>
      <p:sp>
        <p:nvSpPr>
          <p:cNvPr id="8" name="Shape 6"/>
          <p:cNvSpPr/>
          <p:nvPr/>
        </p:nvSpPr>
        <p:spPr>
          <a:xfrm>
            <a:off x="4754880" y="1188720"/>
            <a:ext cx="3840480" cy="73152"/>
          </a:xfrm>
          <a:prstGeom prst="rect">
            <a:avLst/>
          </a:prstGeom>
          <a:solidFill>
            <a:srgbClr val="0A1931"/>
          </a:solidFill>
          <a:ln w="12700">
            <a:solidFill>
              <a:srgbClr val="333333"/>
            </a:solidFill>
            <a:prstDash val="solid"/>
          </a:ln>
        </p:spPr>
      </p:sp>
      <p:sp>
        <p:nvSpPr>
          <p:cNvPr id="9" name="Text 7"/>
          <p:cNvSpPr/>
          <p:nvPr/>
        </p:nvSpPr>
        <p:spPr>
          <a:xfrm>
            <a:off x="5029200" y="1371600"/>
            <a:ext cx="329184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Real-World Operational Testing</a:t>
            </a:r>
            <a:endParaRPr lang="en-US" sz="2000" dirty="0"/>
          </a:p>
        </p:txBody>
      </p:sp>
      <p:sp>
        <p:nvSpPr>
          <p:cNvPr id="10" name="Text 8"/>
          <p:cNvSpPr/>
          <p:nvPr/>
        </p:nvSpPr>
        <p:spPr>
          <a:xfrm>
            <a:off x="5029200" y="1828800"/>
            <a:ext cx="3291840" cy="265176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Simulating Live Performance
</a:t>
            </a:r>
            <a:pPr indent="0" marL="0">
              <a:buNone/>
            </a:pPr>
            <a:r>
              <a:rPr lang="en-US" sz="1100" dirty="0">
                <a:solidFill>
                  <a:srgbClr val="374151"/>
                </a:solidFill>
                <a:latin typeface="Calibri" pitchFamily="34" charset="0"/>
                <a:ea typeface="Calibri" pitchFamily="34" charset="-122"/>
                <a:cs typeface="Calibri" pitchFamily="34" charset="-120"/>
              </a:rPr>
              <a:t>Evaluating on a continuous, untouched out-of-sample test set (H2 2025) simulates how the models will behave in a live plant, ensuring reliability.
</a:t>
            </a:r>
            <a:pPr indent="0" marL="0">
              <a:buNone/>
            </a:pPr>
            <a:r>
              <a:rPr lang="en-US" sz="1300" b="1" dirty="0">
                <a:solidFill>
                  <a:srgbClr val="0D9488"/>
                </a:solidFill>
                <a:latin typeface="Calibri" pitchFamily="34" charset="0"/>
                <a:ea typeface="Calibri" pitchFamily="34" charset="-122"/>
                <a:cs typeface="Calibri" pitchFamily="34" charset="-120"/>
              </a:rPr>
              <a:t>Validation and Early Stopping
</a:t>
            </a:r>
            <a:pPr indent="0" marL="0">
              <a:buNone/>
            </a:pPr>
            <a:r>
              <a:rPr lang="en-US" sz="1100" dirty="0">
                <a:solidFill>
                  <a:srgbClr val="374151"/>
                </a:solidFill>
                <a:latin typeface="Calibri" pitchFamily="34" charset="0"/>
                <a:ea typeface="Calibri" pitchFamily="34" charset="-122"/>
                <a:cs typeface="Calibri" pitchFamily="34" charset="-120"/>
              </a:rPr>
              <a:t>We used the Val partition to stop tree growth when validation RMSE ceased improving, securing the model against overfitting.</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EDA – Monthly &amp; Seasonal Alarm Trends</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280160"/>
            <a:ext cx="3200400" cy="548640"/>
          </a:xfrm>
          <a:prstGeom prst="rect">
            <a:avLst/>
          </a:prstGeom>
          <a:noFill/>
          <a:ln/>
        </p:spPr>
        <p:txBody>
          <a:bodyPr wrap="square" lIns="0" tIns="0" rIns="0" bIns="0" rtlCol="0" anchor="ctr"/>
          <a:lstStyle/>
          <a:p>
            <a:pPr indent="0" marL="0">
              <a:buNone/>
            </a:pPr>
            <a:r>
              <a:rPr lang="en-US" sz="1600" b="1" dirty="0">
                <a:solidFill>
                  <a:srgbClr val="0A1931"/>
                </a:solidFill>
                <a:latin typeface="Trebuchet MS" pitchFamily="34" charset="0"/>
                <a:ea typeface="Trebuchet MS" pitchFamily="34" charset="-122"/>
                <a:cs typeface="Trebuchet MS" pitchFamily="34" charset="-120"/>
              </a:rPr>
              <a:t>Seasonal Ambient Influence</a:t>
            </a:r>
            <a:endParaRPr lang="en-US" sz="1600" dirty="0"/>
          </a:p>
        </p:txBody>
      </p:sp>
      <p:sp>
        <p:nvSpPr>
          <p:cNvPr id="6" name="Text 4"/>
          <p:cNvSpPr/>
          <p:nvPr/>
        </p:nvSpPr>
        <p:spPr>
          <a:xfrm>
            <a:off x="822960" y="1920240"/>
            <a:ext cx="3200400" cy="265176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Yearly Alarm Frequency:
</a:t>
            </a:r>
            <a:pPr indent="0" marL="0">
              <a:buNone/>
            </a:pPr>
            <a:r>
              <a:rPr lang="en-US" sz="950" dirty="0">
                <a:solidFill>
                  <a:srgbClr val="374151"/>
                </a:solidFill>
                <a:latin typeface="Calibri" pitchFamily="34" charset="0"/>
                <a:ea typeface="Calibri" pitchFamily="34" charset="-122"/>
                <a:cs typeface="Calibri" pitchFamily="34" charset="-120"/>
              </a:rPr>
              <a:t>• 2022: 309 episodes | 20,162 total mins (Avg: 65.3m)
</a:t>
            </a:r>
            <a:pPr indent="0" marL="0">
              <a:buNone/>
            </a:pPr>
            <a:r>
              <a:rPr lang="en-US" sz="950" dirty="0">
                <a:solidFill>
                  <a:srgbClr val="374151"/>
                </a:solidFill>
                <a:latin typeface="Calibri" pitchFamily="34" charset="0"/>
                <a:ea typeface="Calibri" pitchFamily="34" charset="-122"/>
                <a:cs typeface="Calibri" pitchFamily="34" charset="-120"/>
              </a:rPr>
              <a:t>• 2023: 402 episodes | 9,742 total mins (Avg: 24.2m)
</a:t>
            </a:r>
            <a:pPr indent="0" marL="0">
              <a:buNone/>
            </a:pPr>
            <a:r>
              <a:rPr lang="en-US" sz="950" dirty="0">
                <a:solidFill>
                  <a:srgbClr val="374151"/>
                </a:solidFill>
                <a:latin typeface="Calibri" pitchFamily="34" charset="0"/>
                <a:ea typeface="Calibri" pitchFamily="34" charset="-122"/>
                <a:cs typeface="Calibri" pitchFamily="34" charset="-120"/>
              </a:rPr>
              <a:t>• 2024: 377 episodes | 18,749 total mins (Avg: 49.7m)
</a:t>
            </a:r>
            <a:pPr indent="0" marL="0">
              <a:buNone/>
            </a:pPr>
            <a:r>
              <a:rPr lang="en-US" sz="950" dirty="0">
                <a:solidFill>
                  <a:srgbClr val="374151"/>
                </a:solidFill>
                <a:latin typeface="Calibri" pitchFamily="34" charset="0"/>
                <a:ea typeface="Calibri" pitchFamily="34" charset="-122"/>
                <a:cs typeface="Calibri" pitchFamily="34" charset="-120"/>
              </a:rPr>
              <a:t>• 2025: 467 episodes | 12,638 total mins (Avg: 27.1m)
</a:t>
            </a:r>
            <a:pPr indent="0" marL="0">
              <a:buNone/>
            </a:pPr>
            <a:r>
              <a:rPr lang="en-US" sz="1200" b="1" dirty="0">
                <a:solidFill>
                  <a:srgbClr val="0A1931"/>
                </a:solidFill>
                <a:latin typeface="Calibri" pitchFamily="34" charset="0"/>
                <a:ea typeface="Calibri" pitchFamily="34" charset="-122"/>
                <a:cs typeface="Calibri" pitchFamily="34" charset="-120"/>
              </a:rPr>
              <a:t>Summer vs. Winter Profiles:
</a:t>
            </a:r>
            <a:pPr indent="0" marL="0">
              <a:buNone/>
            </a:pPr>
            <a:r>
              <a:rPr lang="en-US" sz="950" dirty="0">
                <a:solidFill>
                  <a:srgbClr val="374151"/>
                </a:solidFill>
                <a:latin typeface="Calibri" pitchFamily="34" charset="0"/>
                <a:ea typeface="Calibri" pitchFamily="34" charset="-122"/>
                <a:cs typeface="Calibri" pitchFamily="34" charset="-120"/>
              </a:rPr>
              <a:t>Alarms peak dramatically during hot summer months (June, July, August) where the ambient air temperature degrades the heat exchange efficiency of the overhead cooling condensers.
</a:t>
            </a:r>
            <a:pPr indent="0" marL="0">
              <a:buNone/>
            </a:pPr>
            <a:r>
              <a:rPr lang="en-US" sz="1200" b="1" dirty="0">
                <a:solidFill>
                  <a:srgbClr val="0A1931"/>
                </a:solidFill>
                <a:latin typeface="Calibri" pitchFamily="34" charset="0"/>
                <a:ea typeface="Calibri" pitchFamily="34" charset="-122"/>
                <a:cs typeface="Calibri" pitchFamily="34" charset="-120"/>
              </a:rPr>
              <a:t>Operational Action:
</a:t>
            </a:r>
            <a:pPr indent="0" marL="0">
              <a:buNone/>
            </a:pPr>
            <a:r>
              <a:rPr lang="en-US" sz="950" dirty="0">
                <a:solidFill>
                  <a:srgbClr val="374151"/>
                </a:solidFill>
                <a:latin typeface="Calibri" pitchFamily="34" charset="0"/>
                <a:ea typeface="Calibri" pitchFamily="34" charset="-122"/>
                <a:cs typeface="Calibri" pitchFamily="34" charset="-120"/>
              </a:rPr>
              <a:t>Condenser cleaning and utility cooling flow increases should be scheduled immediately prior to peak summer (May) to maximize column thermal headroom.</a:t>
            </a:r>
            <a:endParaRPr lang="en-US" sz="950" dirty="0"/>
          </a:p>
        </p:txBody>
      </p:sp>
      <p:sp>
        <p:nvSpPr>
          <p:cNvPr id="7" name="Text 5"/>
          <p:cNvSpPr/>
          <p:nvPr/>
        </p:nvSpPr>
        <p:spPr>
          <a:xfrm>
            <a:off x="4754880" y="1188720"/>
            <a:ext cx="384048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Yearly Alarm Accumulation Details</a:t>
            </a:r>
            <a:endParaRPr lang="en-US" sz="2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754880" y="1645920"/>
          <a:ext cx="3840480" cy="2743200"/>
        </p:xfrm>
        <a:graphic>
          <a:graphicData uri="http://schemas.openxmlformats.org/drawingml/2006/table">
            <a:tbl>
              <a:tblPr/>
              <a:tblGrid>
                <a:gridCol w="731520"/>
                <a:gridCol w="640080"/>
                <a:gridCol w="822960"/>
                <a:gridCol w="822960"/>
                <a:gridCol w="822960"/>
              </a:tblGrid>
              <a:tr h="45720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Year</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Episodes</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Total Duration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Avg Duration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Max Duration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2022</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309</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20,162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65.3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508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2023</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402</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9,742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24.2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353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2024</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377</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18,749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49.7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535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2025</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467</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12,638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27.1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561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457200">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2026 (Jan)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11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1.8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4 min</a:t>
                      </a:r>
                      <a:endParaRPr lang="en-US" sz="90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Model Selection &amp; Training</a:t>
            </a:r>
            <a:endParaRPr lang="en-US" sz="3600" dirty="0"/>
          </a:p>
        </p:txBody>
      </p:sp>
      <p:sp>
        <p:nvSpPr>
          <p:cNvPr id="3" name="Shape 1"/>
          <p:cNvSpPr/>
          <p:nvPr/>
        </p:nvSpPr>
        <p:spPr>
          <a:xfrm>
            <a:off x="548640" y="1188720"/>
            <a:ext cx="23774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2377440" cy="73152"/>
          </a:xfrm>
          <a:prstGeom prst="rect">
            <a:avLst/>
          </a:prstGeom>
          <a:solidFill>
            <a:srgbClr val="0A1931"/>
          </a:solidFill>
          <a:ln w="12700">
            <a:solidFill>
              <a:srgbClr val="333333"/>
            </a:solidFill>
            <a:prstDash val="solid"/>
          </a:ln>
        </p:spPr>
      </p:sp>
      <p:sp>
        <p:nvSpPr>
          <p:cNvPr id="5" name="Text 3"/>
          <p:cNvSpPr/>
          <p:nvPr/>
        </p:nvSpPr>
        <p:spPr>
          <a:xfrm>
            <a:off x="685800" y="1371600"/>
            <a:ext cx="2103120" cy="365760"/>
          </a:xfrm>
          <a:prstGeom prst="rect">
            <a:avLst/>
          </a:prstGeom>
          <a:noFill/>
          <a:ln/>
        </p:spPr>
        <p:txBody>
          <a:bodyPr wrap="square" lIns="0" tIns="0" rIns="0" bIns="0" rtlCol="0" anchor="ctr"/>
          <a:lstStyle/>
          <a:p>
            <a:pPr algn="ctr" indent="0" marL="0">
              <a:buNone/>
            </a:pPr>
            <a:r>
              <a:rPr lang="en-US" sz="1600" b="1" dirty="0">
                <a:solidFill>
                  <a:srgbClr val="0A1931"/>
                </a:solidFill>
                <a:latin typeface="Trebuchet MS" pitchFamily="34" charset="0"/>
                <a:ea typeface="Trebuchet MS" pitchFamily="34" charset="-122"/>
                <a:cs typeface="Trebuchet MS" pitchFamily="34" charset="-120"/>
              </a:rPr>
              <a:t>Linear Regression</a:t>
            </a:r>
            <a:endParaRPr lang="en-US" sz="1600" dirty="0"/>
          </a:p>
        </p:txBody>
      </p:sp>
      <p:sp>
        <p:nvSpPr>
          <p:cNvPr id="6" name="Text 4"/>
          <p:cNvSpPr/>
          <p:nvPr/>
        </p:nvSpPr>
        <p:spPr>
          <a:xfrm>
            <a:off x="685800" y="1920240"/>
            <a:ext cx="2103120" cy="201168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Description
</a:t>
            </a:r>
            <a:pPr indent="0" marL="0">
              <a:buNone/>
            </a:pPr>
            <a:r>
              <a:rPr lang="en-US" sz="1100" dirty="0">
                <a:solidFill>
                  <a:srgbClr val="374151"/>
                </a:solidFill>
                <a:latin typeface="Calibri" pitchFamily="34" charset="0"/>
                <a:ea typeface="Calibri" pitchFamily="34" charset="-122"/>
                <a:cs typeface="Calibri" pitchFamily="34" charset="-120"/>
              </a:rPr>
              <a:t>A simple linear baseline model.
</a:t>
            </a:r>
            <a:pPr indent="0" marL="0">
              <a:buNone/>
            </a:pPr>
            <a:r>
              <a:rPr lang="en-US" sz="1100" b="1" dirty="0">
                <a:solidFill>
                  <a:srgbClr val="0D9488"/>
                </a:solidFill>
                <a:latin typeface="Calibri" pitchFamily="34" charset="0"/>
                <a:ea typeface="Calibri" pitchFamily="34" charset="-122"/>
                <a:cs typeface="Calibri" pitchFamily="34" charset="-120"/>
              </a:rPr>
              <a:t>Pros: </a:t>
            </a:r>
            <a:pPr indent="0" marL="0">
              <a:buNone/>
            </a:pPr>
            <a:r>
              <a:rPr lang="en-US" sz="1100" dirty="0">
                <a:solidFill>
                  <a:srgbClr val="374151"/>
                </a:solidFill>
                <a:latin typeface="Calibri" pitchFamily="34" charset="0"/>
                <a:ea typeface="Calibri" pitchFamily="34" charset="-122"/>
                <a:cs typeface="Calibri" pitchFamily="34" charset="-120"/>
              </a:rPr>
              <a:t>Extremely fast, easy to deploy.
</a:t>
            </a:r>
            <a:pPr indent="0" marL="0">
              <a:buNone/>
            </a:pPr>
            <a:r>
              <a:rPr lang="en-US" sz="1100" b="1" dirty="0">
                <a:solidFill>
                  <a:srgbClr val="F96167"/>
                </a:solidFill>
                <a:latin typeface="Calibri" pitchFamily="34" charset="0"/>
                <a:ea typeface="Calibri" pitchFamily="34" charset="-122"/>
                <a:cs typeface="Calibri" pitchFamily="34" charset="-120"/>
              </a:rPr>
              <a:t>Cons: </a:t>
            </a:r>
            <a:pPr indent="0" marL="0">
              <a:buNone/>
            </a:pPr>
            <a:r>
              <a:rPr lang="en-US" sz="1100" dirty="0">
                <a:solidFill>
                  <a:srgbClr val="374151"/>
                </a:solidFill>
                <a:latin typeface="Calibri" pitchFamily="34" charset="0"/>
                <a:ea typeface="Calibri" pitchFamily="34" charset="-122"/>
                <a:cs typeface="Calibri" pitchFamily="34" charset="-120"/>
              </a:rPr>
              <a:t>Cannot capture the column's complex thermodynamic non-linear interactions.</a:t>
            </a:r>
            <a:endParaRPr lang="en-US" sz="1200" dirty="0"/>
          </a:p>
        </p:txBody>
      </p:sp>
      <p:sp>
        <p:nvSpPr>
          <p:cNvPr id="7" name="Shape 5"/>
          <p:cNvSpPr/>
          <p:nvPr/>
        </p:nvSpPr>
        <p:spPr>
          <a:xfrm>
            <a:off x="731520" y="4114800"/>
            <a:ext cx="2011680" cy="365760"/>
          </a:xfrm>
          <a:prstGeom prst="rect">
            <a:avLst/>
          </a:prstGeom>
          <a:solidFill>
            <a:srgbClr val="F3F4F6"/>
          </a:solidFill>
          <a:ln w="12700">
            <a:solidFill>
              <a:srgbClr val="333333"/>
            </a:solidFill>
            <a:prstDash val="solid"/>
          </a:ln>
        </p:spPr>
      </p:sp>
      <p:sp>
        <p:nvSpPr>
          <p:cNvPr id="8" name="Text 6"/>
          <p:cNvSpPr/>
          <p:nvPr/>
        </p:nvSpPr>
        <p:spPr>
          <a:xfrm>
            <a:off x="731520" y="4114800"/>
            <a:ext cx="2011680" cy="365760"/>
          </a:xfrm>
          <a:prstGeom prst="rect">
            <a:avLst/>
          </a:prstGeom>
          <a:noFill/>
          <a:ln/>
        </p:spPr>
        <p:txBody>
          <a:bodyPr wrap="square" lIns="0" tIns="0" rIns="0" bIns="0" rtlCol="0" anchor="ctr"/>
          <a:lstStyle/>
          <a:p>
            <a:pPr algn="ctr" indent="0" marL="0">
              <a:buNone/>
            </a:pPr>
            <a:r>
              <a:rPr lang="en-US" sz="1100" b="1" dirty="0">
                <a:solidFill>
                  <a:srgbClr val="9CA3AF"/>
                </a:solidFill>
                <a:latin typeface="Trebuchet MS" pitchFamily="34" charset="0"/>
                <a:ea typeface="Trebuchet MS" pitchFamily="34" charset="-122"/>
                <a:cs typeface="Trebuchet MS" pitchFamily="34" charset="-120"/>
              </a:rPr>
              <a:t>REJECTED (Low Accuracy)</a:t>
            </a:r>
            <a:endParaRPr lang="en-US" sz="1100" dirty="0"/>
          </a:p>
        </p:txBody>
      </p:sp>
      <p:sp>
        <p:nvSpPr>
          <p:cNvPr id="9" name="Shape 7"/>
          <p:cNvSpPr/>
          <p:nvPr/>
        </p:nvSpPr>
        <p:spPr>
          <a:xfrm>
            <a:off x="3291840" y="1188720"/>
            <a:ext cx="23774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3291840" y="1188720"/>
            <a:ext cx="2377440" cy="73152"/>
          </a:xfrm>
          <a:prstGeom prst="rect">
            <a:avLst/>
          </a:prstGeom>
          <a:solidFill>
            <a:srgbClr val="0A1931"/>
          </a:solidFill>
          <a:ln w="12700">
            <a:solidFill>
              <a:srgbClr val="333333"/>
            </a:solidFill>
            <a:prstDash val="solid"/>
          </a:ln>
        </p:spPr>
      </p:sp>
      <p:sp>
        <p:nvSpPr>
          <p:cNvPr id="11" name="Text 9"/>
          <p:cNvSpPr/>
          <p:nvPr/>
        </p:nvSpPr>
        <p:spPr>
          <a:xfrm>
            <a:off x="3429000" y="1371600"/>
            <a:ext cx="2103120" cy="365760"/>
          </a:xfrm>
          <a:prstGeom prst="rect">
            <a:avLst/>
          </a:prstGeom>
          <a:noFill/>
          <a:ln/>
        </p:spPr>
        <p:txBody>
          <a:bodyPr wrap="square" lIns="0" tIns="0" rIns="0" bIns="0" rtlCol="0" anchor="ctr"/>
          <a:lstStyle/>
          <a:p>
            <a:pPr algn="ctr" indent="0" marL="0">
              <a:buNone/>
            </a:pPr>
            <a:r>
              <a:rPr lang="en-US" sz="1600" b="1" dirty="0">
                <a:solidFill>
                  <a:srgbClr val="0A1931"/>
                </a:solidFill>
                <a:latin typeface="Trebuchet MS" pitchFamily="34" charset="0"/>
                <a:ea typeface="Trebuchet MS" pitchFamily="34" charset="-122"/>
                <a:cs typeface="Trebuchet MS" pitchFamily="34" charset="-120"/>
              </a:rPr>
              <a:t>Deep Learning (LSTM)</a:t>
            </a:r>
            <a:endParaRPr lang="en-US" sz="1600" dirty="0"/>
          </a:p>
        </p:txBody>
      </p:sp>
      <p:sp>
        <p:nvSpPr>
          <p:cNvPr id="12" name="Text 10"/>
          <p:cNvSpPr/>
          <p:nvPr/>
        </p:nvSpPr>
        <p:spPr>
          <a:xfrm>
            <a:off x="3429000" y="1920240"/>
            <a:ext cx="2103120" cy="201168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Description
</a:t>
            </a:r>
            <a:pPr indent="0" marL="0">
              <a:buNone/>
            </a:pPr>
            <a:r>
              <a:rPr lang="en-US" sz="1100" dirty="0">
                <a:solidFill>
                  <a:srgbClr val="374151"/>
                </a:solidFill>
                <a:latin typeface="Calibri" pitchFamily="34" charset="0"/>
                <a:ea typeface="Calibri" pitchFamily="34" charset="-122"/>
                <a:cs typeface="Calibri" pitchFamily="34" charset="-120"/>
              </a:rPr>
              <a:t>Recurrent neural network for sequences.
</a:t>
            </a:r>
            <a:pPr indent="0" marL="0">
              <a:buNone/>
            </a:pPr>
            <a:r>
              <a:rPr lang="en-US" sz="1100" b="1" dirty="0">
                <a:solidFill>
                  <a:srgbClr val="0D9488"/>
                </a:solidFill>
                <a:latin typeface="Calibri" pitchFamily="34" charset="0"/>
                <a:ea typeface="Calibri" pitchFamily="34" charset="-122"/>
                <a:cs typeface="Calibri" pitchFamily="34" charset="-120"/>
              </a:rPr>
              <a:t>Pros: </a:t>
            </a:r>
            <a:pPr indent="0" marL="0">
              <a:buNone/>
            </a:pPr>
            <a:r>
              <a:rPr lang="en-US" sz="1100" dirty="0">
                <a:solidFill>
                  <a:srgbClr val="374151"/>
                </a:solidFill>
                <a:latin typeface="Calibri" pitchFamily="34" charset="0"/>
                <a:ea typeface="Calibri" pitchFamily="34" charset="-122"/>
                <a:cs typeface="Calibri" pitchFamily="34" charset="-120"/>
              </a:rPr>
              <a:t>Excellent sequence memory.
</a:t>
            </a:r>
            <a:pPr indent="0" marL="0">
              <a:buNone/>
            </a:pPr>
            <a:r>
              <a:rPr lang="en-US" sz="1100" b="1" dirty="0">
                <a:solidFill>
                  <a:srgbClr val="F96167"/>
                </a:solidFill>
                <a:latin typeface="Calibri" pitchFamily="34" charset="0"/>
                <a:ea typeface="Calibri" pitchFamily="34" charset="-122"/>
                <a:cs typeface="Calibri" pitchFamily="34" charset="-120"/>
              </a:rPr>
              <a:t>Cons: </a:t>
            </a:r>
            <a:pPr indent="0" marL="0">
              <a:buNone/>
            </a:pPr>
            <a:r>
              <a:rPr lang="en-US" sz="1100" dirty="0">
                <a:solidFill>
                  <a:srgbClr val="374151"/>
                </a:solidFill>
                <a:latin typeface="Calibri" pitchFamily="34" charset="0"/>
                <a:ea typeface="Calibri" pitchFamily="34" charset="-122"/>
                <a:cs typeface="Calibri" pitchFamily="34" charset="-120"/>
              </a:rPr>
              <a:t>Huge computational overhead, sensitive to missing value gaps, hard to explain.</a:t>
            </a:r>
            <a:endParaRPr lang="en-US" sz="1200" dirty="0"/>
          </a:p>
        </p:txBody>
      </p:sp>
      <p:sp>
        <p:nvSpPr>
          <p:cNvPr id="13" name="Shape 11"/>
          <p:cNvSpPr/>
          <p:nvPr/>
        </p:nvSpPr>
        <p:spPr>
          <a:xfrm>
            <a:off x="3474720" y="4114800"/>
            <a:ext cx="2011680" cy="365760"/>
          </a:xfrm>
          <a:prstGeom prst="rect">
            <a:avLst/>
          </a:prstGeom>
          <a:solidFill>
            <a:srgbClr val="F3F4F6"/>
          </a:solidFill>
          <a:ln w="12700">
            <a:solidFill>
              <a:srgbClr val="333333"/>
            </a:solidFill>
            <a:prstDash val="solid"/>
          </a:ln>
        </p:spPr>
      </p:sp>
      <p:sp>
        <p:nvSpPr>
          <p:cNvPr id="14" name="Text 12"/>
          <p:cNvSpPr/>
          <p:nvPr/>
        </p:nvSpPr>
        <p:spPr>
          <a:xfrm>
            <a:off x="3474720" y="4114800"/>
            <a:ext cx="2011680" cy="365760"/>
          </a:xfrm>
          <a:prstGeom prst="rect">
            <a:avLst/>
          </a:prstGeom>
          <a:noFill/>
          <a:ln/>
        </p:spPr>
        <p:txBody>
          <a:bodyPr wrap="square" lIns="0" tIns="0" rIns="0" bIns="0" rtlCol="0" anchor="ctr"/>
          <a:lstStyle/>
          <a:p>
            <a:pPr algn="ctr" indent="0" marL="0">
              <a:buNone/>
            </a:pPr>
            <a:r>
              <a:rPr lang="en-US" sz="1100" b="1" dirty="0">
                <a:solidFill>
                  <a:srgbClr val="9CA3AF"/>
                </a:solidFill>
                <a:latin typeface="Trebuchet MS" pitchFamily="34" charset="0"/>
                <a:ea typeface="Trebuchet MS" pitchFamily="34" charset="-122"/>
                <a:cs typeface="Trebuchet MS" pitchFamily="34" charset="-120"/>
              </a:rPr>
              <a:t>REJECTED (High Complexity)</a:t>
            </a:r>
            <a:endParaRPr lang="en-US" sz="1100" dirty="0"/>
          </a:p>
        </p:txBody>
      </p:sp>
      <p:sp>
        <p:nvSpPr>
          <p:cNvPr id="15" name="Shape 13"/>
          <p:cNvSpPr/>
          <p:nvPr/>
        </p:nvSpPr>
        <p:spPr>
          <a:xfrm>
            <a:off x="6035040" y="1188720"/>
            <a:ext cx="2377440" cy="3474720"/>
          </a:xfrm>
          <a:prstGeom prst="rect">
            <a:avLst/>
          </a:prstGeom>
          <a:solidFill>
            <a:srgbClr val="FFFFFF"/>
          </a:solidFill>
          <a:ln w="38100">
            <a:solidFill>
              <a:srgbClr val="0D9488"/>
            </a:solidFill>
            <a:prstDash val="solid"/>
          </a:ln>
          <a:effectLst>
            <a:outerShdw sx="100000" sy="100000" kx="0" ky="0" algn="bl" rotWithShape="0" blurRad="76200" dist="25400" dir="8100000">
              <a:srgbClr val="000000">
                <a:alpha val="15000"/>
              </a:srgbClr>
            </a:outerShdw>
          </a:effectLst>
        </p:spPr>
      </p:sp>
      <p:sp>
        <p:nvSpPr>
          <p:cNvPr id="16" name="Shape 14"/>
          <p:cNvSpPr/>
          <p:nvPr/>
        </p:nvSpPr>
        <p:spPr>
          <a:xfrm>
            <a:off x="6035040" y="1188720"/>
            <a:ext cx="2377440" cy="73152"/>
          </a:xfrm>
          <a:prstGeom prst="rect">
            <a:avLst/>
          </a:prstGeom>
          <a:solidFill>
            <a:srgbClr val="0D9488"/>
          </a:solidFill>
          <a:ln w="12700">
            <a:solidFill>
              <a:srgbClr val="333333"/>
            </a:solidFill>
            <a:prstDash val="solid"/>
          </a:ln>
        </p:spPr>
      </p:sp>
      <p:sp>
        <p:nvSpPr>
          <p:cNvPr id="17" name="Text 15"/>
          <p:cNvSpPr/>
          <p:nvPr/>
        </p:nvSpPr>
        <p:spPr>
          <a:xfrm>
            <a:off x="6172200" y="1371600"/>
            <a:ext cx="2103120" cy="365760"/>
          </a:xfrm>
          <a:prstGeom prst="rect">
            <a:avLst/>
          </a:prstGeom>
          <a:noFill/>
          <a:ln/>
        </p:spPr>
        <p:txBody>
          <a:bodyPr wrap="square" lIns="0" tIns="0" rIns="0" bIns="0" rtlCol="0" anchor="ctr"/>
          <a:lstStyle/>
          <a:p>
            <a:pPr algn="ctr" indent="0" marL="0">
              <a:buNone/>
            </a:pPr>
            <a:r>
              <a:rPr lang="en-US" sz="1600" b="1" dirty="0">
                <a:solidFill>
                  <a:srgbClr val="0D9488"/>
                </a:solidFill>
                <a:latin typeface="Trebuchet MS" pitchFamily="34" charset="0"/>
                <a:ea typeface="Trebuchet MS" pitchFamily="34" charset="-122"/>
                <a:cs typeface="Trebuchet MS" pitchFamily="34" charset="-120"/>
              </a:rPr>
              <a:t>LightGBM Regressor</a:t>
            </a:r>
            <a:endParaRPr lang="en-US" sz="1600" dirty="0"/>
          </a:p>
        </p:txBody>
      </p:sp>
      <p:sp>
        <p:nvSpPr>
          <p:cNvPr id="18" name="Text 16"/>
          <p:cNvSpPr/>
          <p:nvPr/>
        </p:nvSpPr>
        <p:spPr>
          <a:xfrm>
            <a:off x="6172200" y="1920240"/>
            <a:ext cx="2103120" cy="2011680"/>
          </a:xfrm>
          <a:prstGeom prst="rect">
            <a:avLst/>
          </a:prstGeom>
          <a:noFill/>
          <a:ln/>
        </p:spPr>
        <p:txBody>
          <a:bodyPr wrap="square" lIns="0" tIns="0" rIns="0" bIns="0" rtlCol="0" anchor="ctr"/>
          <a:lstStyle/>
          <a:p>
            <a:pPr indent="0" marL="0">
              <a:buNone/>
            </a:pPr>
            <a:r>
              <a:rPr lang="en-US" sz="1200" b="1" dirty="0">
                <a:solidFill>
                  <a:srgbClr val="0A1931"/>
                </a:solidFill>
                <a:latin typeface="Calibri" pitchFamily="34" charset="0"/>
                <a:ea typeface="Calibri" pitchFamily="34" charset="-122"/>
                <a:cs typeface="Calibri" pitchFamily="34" charset="-120"/>
              </a:rPr>
              <a:t>Description
</a:t>
            </a:r>
            <a:pPr indent="0" marL="0">
              <a:buNone/>
            </a:pPr>
            <a:r>
              <a:rPr lang="en-US" sz="1100" dirty="0">
                <a:solidFill>
                  <a:srgbClr val="374151"/>
                </a:solidFill>
                <a:latin typeface="Calibri" pitchFamily="34" charset="0"/>
                <a:ea typeface="Calibri" pitchFamily="34" charset="-122"/>
                <a:cs typeface="Calibri" pitchFamily="34" charset="-120"/>
              </a:rPr>
              <a:t>Gradient Boosted Decision Tree ensemble.
</a:t>
            </a:r>
            <a:pPr indent="0" marL="0">
              <a:buNone/>
            </a:pPr>
            <a:r>
              <a:rPr lang="en-US" sz="1100" b="1" dirty="0">
                <a:solidFill>
                  <a:srgbClr val="0D9488"/>
                </a:solidFill>
                <a:latin typeface="Calibri" pitchFamily="34" charset="0"/>
                <a:ea typeface="Calibri" pitchFamily="34" charset="-122"/>
                <a:cs typeface="Calibri" pitchFamily="34" charset="-120"/>
              </a:rPr>
              <a:t>Pros: </a:t>
            </a:r>
            <a:pPr indent="0" marL="0">
              <a:buNone/>
            </a:pPr>
            <a:r>
              <a:rPr lang="en-US" sz="1100" dirty="0">
                <a:solidFill>
                  <a:srgbClr val="374151"/>
                </a:solidFill>
                <a:latin typeface="Calibri" pitchFamily="34" charset="0"/>
                <a:ea typeface="Calibri" pitchFamily="34" charset="-122"/>
                <a:cs typeface="Calibri" pitchFamily="34" charset="-120"/>
              </a:rPr>
              <a:t>Handles non-linear relationships, collinear inputs, native NaNs, ultra-fast training.
</a:t>
            </a:r>
            <a:pPr indent="0" marL="0">
              <a:buNone/>
            </a:pPr>
            <a:r>
              <a:rPr lang="en-US" sz="1100" b="1" dirty="0">
                <a:solidFill>
                  <a:srgbClr val="F96167"/>
                </a:solidFill>
                <a:latin typeface="Calibri" pitchFamily="34" charset="0"/>
                <a:ea typeface="Calibri" pitchFamily="34" charset="-122"/>
                <a:cs typeface="Calibri" pitchFamily="34" charset="-120"/>
              </a:rPr>
              <a:t>Cons: </a:t>
            </a:r>
            <a:pPr indent="0" marL="0">
              <a:buNone/>
            </a:pPr>
            <a:r>
              <a:rPr lang="en-US" sz="1100" dirty="0">
                <a:solidFill>
                  <a:srgbClr val="374151"/>
                </a:solidFill>
                <a:latin typeface="Calibri" pitchFamily="34" charset="0"/>
                <a:ea typeface="Calibri" pitchFamily="34" charset="-122"/>
                <a:cs typeface="Calibri" pitchFamily="34" charset="-120"/>
              </a:rPr>
              <a:t>Requires careful hyperparameter tuning.</a:t>
            </a:r>
            <a:endParaRPr lang="en-US" sz="1200" dirty="0"/>
          </a:p>
        </p:txBody>
      </p:sp>
      <p:sp>
        <p:nvSpPr>
          <p:cNvPr id="19" name="Shape 17"/>
          <p:cNvSpPr/>
          <p:nvPr/>
        </p:nvSpPr>
        <p:spPr>
          <a:xfrm>
            <a:off x="6217920" y="4114800"/>
            <a:ext cx="2011680" cy="365760"/>
          </a:xfrm>
          <a:prstGeom prst="rect">
            <a:avLst/>
          </a:prstGeom>
          <a:solidFill>
            <a:srgbClr val="0D9488"/>
          </a:solidFill>
          <a:ln w="12700">
            <a:solidFill>
              <a:srgbClr val="333333"/>
            </a:solidFill>
            <a:prstDash val="solid"/>
          </a:ln>
        </p:spPr>
      </p:sp>
      <p:sp>
        <p:nvSpPr>
          <p:cNvPr id="20" name="Text 18"/>
          <p:cNvSpPr/>
          <p:nvPr/>
        </p:nvSpPr>
        <p:spPr>
          <a:xfrm>
            <a:off x="6217920" y="4114800"/>
            <a:ext cx="2011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SELECTED MODEL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Hyperparameter Tuning via Optuna</a:t>
            </a:r>
            <a:endParaRPr lang="en-US" sz="3600" dirty="0"/>
          </a:p>
        </p:txBody>
      </p:sp>
      <p:sp>
        <p:nvSpPr>
          <p:cNvPr id="3" name="Shape 1"/>
          <p:cNvSpPr/>
          <p:nvPr/>
        </p:nvSpPr>
        <p:spPr>
          <a:xfrm>
            <a:off x="548640" y="1188720"/>
            <a:ext cx="3749040" cy="347472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4" name="Shape 2"/>
          <p:cNvSpPr/>
          <p:nvPr/>
        </p:nvSpPr>
        <p:spPr>
          <a:xfrm>
            <a:off x="548640" y="1188720"/>
            <a:ext cx="3749040" cy="73152"/>
          </a:xfrm>
          <a:prstGeom prst="rect">
            <a:avLst/>
          </a:prstGeom>
          <a:solidFill>
            <a:srgbClr val="0D9488"/>
          </a:solidFill>
          <a:ln w="12700">
            <a:solidFill>
              <a:srgbClr val="333333"/>
            </a:solidFill>
            <a:prstDash val="solid"/>
          </a:ln>
        </p:spPr>
      </p:sp>
      <p:sp>
        <p:nvSpPr>
          <p:cNvPr id="5" name="Text 3"/>
          <p:cNvSpPr/>
          <p:nvPr/>
        </p:nvSpPr>
        <p:spPr>
          <a:xfrm>
            <a:off x="822960" y="1371600"/>
            <a:ext cx="32004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Bayesian Optimization Strategy</a:t>
            </a:r>
            <a:endParaRPr lang="en-US" sz="2000" dirty="0"/>
          </a:p>
        </p:txBody>
      </p:sp>
      <p:sp>
        <p:nvSpPr>
          <p:cNvPr id="6" name="Text 4"/>
          <p:cNvSpPr/>
          <p:nvPr/>
        </p:nvSpPr>
        <p:spPr>
          <a:xfrm>
            <a:off x="822960" y="1828800"/>
            <a:ext cx="3200400" cy="2651760"/>
          </a:xfrm>
          <a:prstGeom prst="rect">
            <a:avLst/>
          </a:prstGeom>
          <a:noFill/>
          <a:ln/>
        </p:spPr>
        <p:txBody>
          <a:bodyPr wrap="square" lIns="0" tIns="0" rIns="0" bIns="0" rtlCol="0" anchor="ctr"/>
          <a:lstStyle/>
          <a:p>
            <a:pPr indent="0" marL="0">
              <a:buNone/>
            </a:pPr>
            <a:r>
              <a:rPr lang="en-US" sz="1300" b="1" dirty="0">
                <a:solidFill>
                  <a:srgbClr val="0A1931"/>
                </a:solidFill>
                <a:latin typeface="Calibri" pitchFamily="34" charset="0"/>
                <a:ea typeface="Calibri" pitchFamily="34" charset="-122"/>
                <a:cs typeface="Calibri" pitchFamily="34" charset="-120"/>
              </a:rPr>
              <a:t>Optuna TPE Search
</a:t>
            </a:r>
            <a:pPr indent="0" marL="0">
              <a:buNone/>
            </a:pPr>
            <a:r>
              <a:rPr lang="en-US" sz="1100" dirty="0">
                <a:solidFill>
                  <a:srgbClr val="374151"/>
                </a:solidFill>
                <a:latin typeface="Calibri" pitchFamily="34" charset="0"/>
                <a:ea typeface="Calibri" pitchFamily="34" charset="-122"/>
                <a:cs typeface="Calibri" pitchFamily="34" charset="-120"/>
              </a:rPr>
              <a:t>Used Bayesian Tree-structured Parzen Estimator (TPE) search to locate optimal learning rates, tree sizes, and regularization parameter combinations.
</a:t>
            </a:r>
            <a:pPr indent="0" marL="0">
              <a:buNone/>
            </a:pPr>
            <a:r>
              <a:rPr lang="en-US" sz="1300" b="1" dirty="0">
                <a:solidFill>
                  <a:srgbClr val="0A1931"/>
                </a:solidFill>
                <a:latin typeface="Calibri" pitchFamily="34" charset="0"/>
                <a:ea typeface="Calibri" pitchFamily="34" charset="-122"/>
                <a:cs typeface="Calibri" pitchFamily="34" charset="-120"/>
              </a:rPr>
              <a:t>1-in-8 Data Downsampling
</a:t>
            </a:r>
            <a:pPr indent="0" marL="0">
              <a:buNone/>
            </a:pPr>
            <a:r>
              <a:rPr lang="en-US" sz="1100" dirty="0">
                <a:solidFill>
                  <a:srgbClr val="374151"/>
                </a:solidFill>
                <a:latin typeface="Calibri" pitchFamily="34" charset="0"/>
                <a:ea typeface="Calibri" pitchFamily="34" charset="-122"/>
                <a:cs typeface="Calibri" pitchFamily="34" charset="-120"/>
              </a:rPr>
              <a:t>Tuned on a statistically representative downsampled subset (187k rows) to reduce search time by 20x, then retrained on the full 2 million row history.
</a:t>
            </a:r>
            <a:pPr indent="0" marL="0">
              <a:buNone/>
            </a:pPr>
            <a:r>
              <a:rPr lang="en-US" sz="1300" b="1" dirty="0">
                <a:solidFill>
                  <a:srgbClr val="0A1931"/>
                </a:solidFill>
                <a:latin typeface="Calibri" pitchFamily="34" charset="0"/>
                <a:ea typeface="Calibri" pitchFamily="34" charset="-122"/>
                <a:cs typeface="Calibri" pitchFamily="34" charset="-120"/>
              </a:rPr>
              <a:t>Regressed for RMSE
</a:t>
            </a:r>
            <a:pPr indent="0" marL="0">
              <a:buNone/>
            </a:pPr>
            <a:r>
              <a:rPr lang="en-US" sz="1100" dirty="0">
                <a:solidFill>
                  <a:srgbClr val="374151"/>
                </a:solidFill>
                <a:latin typeface="Calibri" pitchFamily="34" charset="0"/>
                <a:ea typeface="Calibri" pitchFamily="34" charset="-122"/>
                <a:cs typeface="Calibri" pitchFamily="34" charset="-120"/>
              </a:rPr>
              <a:t>Optimized model's Root Mean Squared Error to tighten forecast curve predictions and naturally increase alarm classification precision.</a:t>
            </a:r>
            <a:endParaRPr lang="en-US" sz="1300" dirty="0"/>
          </a:p>
        </p:txBody>
      </p:sp>
      <p:sp>
        <p:nvSpPr>
          <p:cNvPr id="7" name="Text 5"/>
          <p:cNvSpPr/>
          <p:nvPr/>
        </p:nvSpPr>
        <p:spPr>
          <a:xfrm>
            <a:off x="4754880" y="1188720"/>
            <a:ext cx="384048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Best Parameter Solutions Found</a:t>
            </a:r>
            <a:endParaRPr lang="en-US" sz="2000" dirty="0"/>
          </a:p>
        </p:txBody>
      </p:sp>
      <p:sp>
        <p:nvSpPr>
          <p:cNvPr id="8" name="Shape 6"/>
          <p:cNvSpPr/>
          <p:nvPr/>
        </p:nvSpPr>
        <p:spPr>
          <a:xfrm>
            <a:off x="4754880" y="1554480"/>
            <a:ext cx="3840480" cy="68580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4754880" y="1554480"/>
            <a:ext cx="73152" cy="685800"/>
          </a:xfrm>
          <a:prstGeom prst="rect">
            <a:avLst/>
          </a:prstGeom>
          <a:solidFill>
            <a:srgbClr val="0D9488"/>
          </a:solidFill>
          <a:ln w="12700">
            <a:solidFill>
              <a:srgbClr val="333333"/>
            </a:solidFill>
            <a:prstDash val="solid"/>
          </a:ln>
        </p:spPr>
      </p:sp>
      <p:sp>
        <p:nvSpPr>
          <p:cNvPr id="10" name="Text 8"/>
          <p:cNvSpPr/>
          <p:nvPr/>
        </p:nvSpPr>
        <p:spPr>
          <a:xfrm>
            <a:off x="4937760" y="1600200"/>
            <a:ext cx="3474720" cy="182880"/>
          </a:xfrm>
          <a:prstGeom prst="rect">
            <a:avLst/>
          </a:prstGeom>
          <a:noFill/>
          <a:ln/>
        </p:spPr>
        <p:txBody>
          <a:bodyPr wrap="square" lIns="0" tIns="0" rIns="0" bIns="0" rtlCol="0" anchor="ctr"/>
          <a:lstStyle/>
          <a:p>
            <a:pPr indent="0" marL="0">
              <a:buNone/>
            </a:pPr>
            <a:r>
              <a:rPr lang="en-US" sz="1100" b="1" dirty="0">
                <a:solidFill>
                  <a:srgbClr val="0A1931"/>
                </a:solidFill>
                <a:latin typeface="Trebuchet MS" pitchFamily="34" charset="0"/>
                <a:ea typeface="Trebuchet MS" pitchFamily="34" charset="-122"/>
                <a:cs typeface="Trebuchet MS" pitchFamily="34" charset="-120"/>
              </a:rPr>
              <a:t>5-Minute Horizon Model Params</a:t>
            </a:r>
            <a:endParaRPr lang="en-US" sz="1100" dirty="0"/>
          </a:p>
        </p:txBody>
      </p:sp>
      <p:sp>
        <p:nvSpPr>
          <p:cNvPr id="11" name="Text 9"/>
          <p:cNvSpPr/>
          <p:nvPr/>
        </p:nvSpPr>
        <p:spPr>
          <a:xfrm>
            <a:off x="4937760" y="1783080"/>
            <a:ext cx="3474720" cy="41148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learning_rate: 0.141 | num_leaves: 92 | max_depth: 10 | min_child: 40</a:t>
            </a:r>
            <a:endParaRPr lang="en-US" sz="950" dirty="0"/>
          </a:p>
        </p:txBody>
      </p:sp>
      <p:sp>
        <p:nvSpPr>
          <p:cNvPr id="12" name="Shape 10"/>
          <p:cNvSpPr/>
          <p:nvPr/>
        </p:nvSpPr>
        <p:spPr>
          <a:xfrm>
            <a:off x="4754880" y="2331720"/>
            <a:ext cx="3840480" cy="68580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3" name="Shape 11"/>
          <p:cNvSpPr/>
          <p:nvPr/>
        </p:nvSpPr>
        <p:spPr>
          <a:xfrm>
            <a:off x="4754880" y="2331720"/>
            <a:ext cx="73152" cy="685800"/>
          </a:xfrm>
          <a:prstGeom prst="rect">
            <a:avLst/>
          </a:prstGeom>
          <a:solidFill>
            <a:srgbClr val="0D9488"/>
          </a:solidFill>
          <a:ln w="12700">
            <a:solidFill>
              <a:srgbClr val="333333"/>
            </a:solidFill>
            <a:prstDash val="solid"/>
          </a:ln>
        </p:spPr>
      </p:sp>
      <p:sp>
        <p:nvSpPr>
          <p:cNvPr id="14" name="Text 12"/>
          <p:cNvSpPr/>
          <p:nvPr/>
        </p:nvSpPr>
        <p:spPr>
          <a:xfrm>
            <a:off x="4937760" y="2377440"/>
            <a:ext cx="3474720" cy="182880"/>
          </a:xfrm>
          <a:prstGeom prst="rect">
            <a:avLst/>
          </a:prstGeom>
          <a:noFill/>
          <a:ln/>
        </p:spPr>
        <p:txBody>
          <a:bodyPr wrap="square" lIns="0" tIns="0" rIns="0" bIns="0" rtlCol="0" anchor="ctr"/>
          <a:lstStyle/>
          <a:p>
            <a:pPr indent="0" marL="0">
              <a:buNone/>
            </a:pPr>
            <a:r>
              <a:rPr lang="en-US" sz="1100" b="1" dirty="0">
                <a:solidFill>
                  <a:srgbClr val="0A1931"/>
                </a:solidFill>
                <a:latin typeface="Trebuchet MS" pitchFamily="34" charset="0"/>
                <a:ea typeface="Trebuchet MS" pitchFamily="34" charset="-122"/>
                <a:cs typeface="Trebuchet MS" pitchFamily="34" charset="-120"/>
              </a:rPr>
              <a:t>15-Minute Horizon Model Params</a:t>
            </a:r>
            <a:endParaRPr lang="en-US" sz="1100" dirty="0"/>
          </a:p>
        </p:txBody>
      </p:sp>
      <p:sp>
        <p:nvSpPr>
          <p:cNvPr id="15" name="Text 13"/>
          <p:cNvSpPr/>
          <p:nvPr/>
        </p:nvSpPr>
        <p:spPr>
          <a:xfrm>
            <a:off x="4937760" y="2560320"/>
            <a:ext cx="3474720" cy="41148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learning_rate: 0.148 | num_leaves: 102 | max_depth: 9 | min_child: 65</a:t>
            </a:r>
            <a:endParaRPr lang="en-US" sz="950" dirty="0"/>
          </a:p>
        </p:txBody>
      </p:sp>
      <p:sp>
        <p:nvSpPr>
          <p:cNvPr id="16" name="Shape 14"/>
          <p:cNvSpPr/>
          <p:nvPr/>
        </p:nvSpPr>
        <p:spPr>
          <a:xfrm>
            <a:off x="4754880" y="3108960"/>
            <a:ext cx="3840480" cy="68580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17" name="Shape 15"/>
          <p:cNvSpPr/>
          <p:nvPr/>
        </p:nvSpPr>
        <p:spPr>
          <a:xfrm>
            <a:off x="4754880" y="3108960"/>
            <a:ext cx="73152" cy="685800"/>
          </a:xfrm>
          <a:prstGeom prst="rect">
            <a:avLst/>
          </a:prstGeom>
          <a:solidFill>
            <a:srgbClr val="0D9488"/>
          </a:solidFill>
          <a:ln w="12700">
            <a:solidFill>
              <a:srgbClr val="333333"/>
            </a:solidFill>
            <a:prstDash val="solid"/>
          </a:ln>
        </p:spPr>
      </p:sp>
      <p:sp>
        <p:nvSpPr>
          <p:cNvPr id="18" name="Text 16"/>
          <p:cNvSpPr/>
          <p:nvPr/>
        </p:nvSpPr>
        <p:spPr>
          <a:xfrm>
            <a:off x="4937760" y="3154680"/>
            <a:ext cx="3474720" cy="182880"/>
          </a:xfrm>
          <a:prstGeom prst="rect">
            <a:avLst/>
          </a:prstGeom>
          <a:noFill/>
          <a:ln/>
        </p:spPr>
        <p:txBody>
          <a:bodyPr wrap="square" lIns="0" tIns="0" rIns="0" bIns="0" rtlCol="0" anchor="ctr"/>
          <a:lstStyle/>
          <a:p>
            <a:pPr indent="0" marL="0">
              <a:buNone/>
            </a:pPr>
            <a:r>
              <a:rPr lang="en-US" sz="1100" b="1" dirty="0">
                <a:solidFill>
                  <a:srgbClr val="0A1931"/>
                </a:solidFill>
                <a:latin typeface="Trebuchet MS" pitchFamily="34" charset="0"/>
                <a:ea typeface="Trebuchet MS" pitchFamily="34" charset="-122"/>
                <a:cs typeface="Trebuchet MS" pitchFamily="34" charset="-120"/>
              </a:rPr>
              <a:t>30-Minute Horizon Model Params</a:t>
            </a:r>
            <a:endParaRPr lang="en-US" sz="1100" dirty="0"/>
          </a:p>
        </p:txBody>
      </p:sp>
      <p:sp>
        <p:nvSpPr>
          <p:cNvPr id="19" name="Text 17"/>
          <p:cNvSpPr/>
          <p:nvPr/>
        </p:nvSpPr>
        <p:spPr>
          <a:xfrm>
            <a:off x="4937760" y="3337560"/>
            <a:ext cx="3474720" cy="41148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learning_rate: 0.034 | num_leaves: 72 | max_depth: 8 | min_child: 65</a:t>
            </a:r>
            <a:endParaRPr lang="en-US" sz="950" dirty="0"/>
          </a:p>
        </p:txBody>
      </p:sp>
      <p:sp>
        <p:nvSpPr>
          <p:cNvPr id="20" name="Shape 18"/>
          <p:cNvSpPr/>
          <p:nvPr/>
        </p:nvSpPr>
        <p:spPr>
          <a:xfrm>
            <a:off x="4754880" y="3886200"/>
            <a:ext cx="3840480" cy="685800"/>
          </a:xfrm>
          <a:prstGeom prst="rect">
            <a:avLst/>
          </a:prstGeom>
          <a:solidFill>
            <a:srgbClr val="FFFFFF"/>
          </a:solidFill>
          <a:ln w="12700">
            <a:solidFill>
              <a:srgbClr val="F3F4F6"/>
            </a:solidFill>
            <a:prstDash val="solid"/>
          </a:ln>
          <a:effectLst>
            <a:outerShdw sx="100000" sy="100000" kx="0" ky="0" algn="bl" rotWithShape="0" blurRad="76200" dist="25400" dir="8100000">
              <a:srgbClr val="000000">
                <a:alpha val="15000"/>
              </a:srgbClr>
            </a:outerShdw>
          </a:effectLst>
        </p:spPr>
      </p:sp>
      <p:sp>
        <p:nvSpPr>
          <p:cNvPr id="21" name="Shape 19"/>
          <p:cNvSpPr/>
          <p:nvPr/>
        </p:nvSpPr>
        <p:spPr>
          <a:xfrm>
            <a:off x="4754880" y="3886200"/>
            <a:ext cx="73152" cy="685800"/>
          </a:xfrm>
          <a:prstGeom prst="rect">
            <a:avLst/>
          </a:prstGeom>
          <a:solidFill>
            <a:srgbClr val="0D9488"/>
          </a:solidFill>
          <a:ln w="12700">
            <a:solidFill>
              <a:srgbClr val="333333"/>
            </a:solidFill>
            <a:prstDash val="solid"/>
          </a:ln>
        </p:spPr>
      </p:sp>
      <p:sp>
        <p:nvSpPr>
          <p:cNvPr id="22" name="Text 20"/>
          <p:cNvSpPr/>
          <p:nvPr/>
        </p:nvSpPr>
        <p:spPr>
          <a:xfrm>
            <a:off x="4937760" y="3931920"/>
            <a:ext cx="3474720" cy="182880"/>
          </a:xfrm>
          <a:prstGeom prst="rect">
            <a:avLst/>
          </a:prstGeom>
          <a:noFill/>
          <a:ln/>
        </p:spPr>
        <p:txBody>
          <a:bodyPr wrap="square" lIns="0" tIns="0" rIns="0" bIns="0" rtlCol="0" anchor="ctr"/>
          <a:lstStyle/>
          <a:p>
            <a:pPr indent="0" marL="0">
              <a:buNone/>
            </a:pPr>
            <a:r>
              <a:rPr lang="en-US" sz="1100" b="1" dirty="0">
                <a:solidFill>
                  <a:srgbClr val="0A1931"/>
                </a:solidFill>
                <a:latin typeface="Trebuchet MS" pitchFamily="34" charset="0"/>
                <a:ea typeface="Trebuchet MS" pitchFamily="34" charset="-122"/>
                <a:cs typeface="Trebuchet MS" pitchFamily="34" charset="-120"/>
              </a:rPr>
              <a:t>60-Minute Horizon Model Params</a:t>
            </a:r>
            <a:endParaRPr lang="en-US" sz="1100" dirty="0"/>
          </a:p>
        </p:txBody>
      </p:sp>
      <p:sp>
        <p:nvSpPr>
          <p:cNvPr id="23" name="Text 21"/>
          <p:cNvSpPr/>
          <p:nvPr/>
        </p:nvSpPr>
        <p:spPr>
          <a:xfrm>
            <a:off x="4937760" y="4114800"/>
            <a:ext cx="3474720" cy="411480"/>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learning_rate: 0.047 | num_leaves: 99 | max_depth: 9 | min_child: 61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AFB"/>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0A1931"/>
                </a:solidFill>
                <a:latin typeface="Trebuchet MS" pitchFamily="34" charset="0"/>
                <a:ea typeface="Trebuchet MS" pitchFamily="34" charset="-122"/>
                <a:cs typeface="Trebuchet MS" pitchFamily="34" charset="-120"/>
              </a:rPr>
              <a:t>Model Performance Comparison</a:t>
            </a:r>
            <a:endParaRPr lang="en-US" sz="3600" dirty="0"/>
          </a:p>
        </p:txBody>
      </p:sp>
      <p:sp>
        <p:nvSpPr>
          <p:cNvPr id="3" name="Text 1"/>
          <p:cNvSpPr/>
          <p:nvPr/>
        </p:nvSpPr>
        <p:spPr>
          <a:xfrm>
            <a:off x="548640" y="1097280"/>
            <a:ext cx="411480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Optimized Precision Results</a:t>
            </a:r>
            <a:endParaRPr lang="en-US" sz="2000" dirty="0"/>
          </a:p>
        </p:txBody>
      </p:sp>
      <p:sp>
        <p:nvSpPr>
          <p:cNvPr id="4" name="Text 2"/>
          <p:cNvSpPr/>
          <p:nvPr/>
        </p:nvSpPr>
        <p:spPr>
          <a:xfrm>
            <a:off x="548640" y="1554480"/>
            <a:ext cx="3749040" cy="301752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Precision Improvement across Horizons
</a:t>
            </a:r>
            <a:pPr indent="0" marL="0">
              <a:buNone/>
            </a:pPr>
            <a:r>
              <a:rPr lang="en-US" sz="1050" dirty="0">
                <a:solidFill>
                  <a:srgbClr val="374151"/>
                </a:solidFill>
                <a:latin typeface="Calibri" pitchFamily="34" charset="0"/>
                <a:ea typeface="Calibri" pitchFamily="34" charset="-122"/>
                <a:cs typeface="Calibri" pitchFamily="34" charset="-120"/>
              </a:rPr>
              <a:t>Optuna tuning successfully increased model precision to 93.45% for 5m, 94.06% for 15m, 90.79% for 30m, and 84.89% for 60m.
</a:t>
            </a:r>
            <a:pPr indent="0" marL="0">
              <a:buNone/>
            </a:pPr>
            <a:r>
              <a:rPr lang="en-US" sz="1200" b="1" dirty="0">
                <a:solidFill>
                  <a:srgbClr val="F96167"/>
                </a:solidFill>
                <a:latin typeface="Calibri" pitchFamily="34" charset="0"/>
                <a:ea typeface="Calibri" pitchFamily="34" charset="-122"/>
                <a:cs typeface="Calibri" pitchFamily="34" charset="-120"/>
              </a:rPr>
              <a:t>Reduced False Alarm Rate (FAR)
</a:t>
            </a:r>
            <a:pPr indent="0" marL="0">
              <a:buNone/>
            </a:pPr>
            <a:r>
              <a:rPr lang="en-US" sz="1050" dirty="0">
                <a:solidFill>
                  <a:srgbClr val="374151"/>
                </a:solidFill>
                <a:latin typeface="Calibri" pitchFamily="34" charset="0"/>
                <a:ea typeface="Calibri" pitchFamily="34" charset="-122"/>
                <a:cs typeface="Calibri" pitchFamily="34" charset="-120"/>
              </a:rPr>
              <a:t>The tuned V2 model achieves extremely low FARs: 0.208% at 5m, 0.179% at 15m, 0.278% at 30m, and 0.438% at 60m. Tighter alarms build operator trust.
</a:t>
            </a:r>
            <a:pPr indent="0" marL="0">
              <a:buNone/>
            </a:pPr>
            <a:r>
              <a:rPr lang="en-US" sz="1200" b="1" dirty="0">
                <a:solidFill>
                  <a:srgbClr val="0A1931"/>
                </a:solidFill>
                <a:latin typeface="Calibri" pitchFamily="34" charset="0"/>
                <a:ea typeface="Calibri" pitchFamily="34" charset="-122"/>
                <a:cs typeface="Calibri" pitchFamily="34" charset="-120"/>
              </a:rPr>
              <a:t>Lower Regression Variance (RMSE)
</a:t>
            </a:r>
            <a:pPr indent="0" marL="0">
              <a:buNone/>
            </a:pPr>
            <a:r>
              <a:rPr lang="en-US" sz="1050" dirty="0">
                <a:solidFill>
                  <a:srgbClr val="374151"/>
                </a:solidFill>
                <a:latin typeface="Calibri" pitchFamily="34" charset="0"/>
                <a:ea typeface="Calibri" pitchFamily="34" charset="-122"/>
                <a:cs typeface="Calibri" pitchFamily="34" charset="-120"/>
              </a:rPr>
              <a:t>Root Mean Squared Error (RMSE) is reduced at 15m and 30m, meaning predictions stay closer to actual trends under highly dynamic load shifts.</a:t>
            </a:r>
            <a:endParaRPr lang="en-US" sz="1200" dirty="0"/>
          </a:p>
        </p:txBody>
      </p:sp>
      <p:sp>
        <p:nvSpPr>
          <p:cNvPr id="5" name="Text 3"/>
          <p:cNvSpPr/>
          <p:nvPr/>
        </p:nvSpPr>
        <p:spPr>
          <a:xfrm>
            <a:off x="4663440" y="1097280"/>
            <a:ext cx="3931920" cy="365760"/>
          </a:xfrm>
          <a:prstGeom prst="rect">
            <a:avLst/>
          </a:prstGeom>
          <a:noFill/>
          <a:ln/>
        </p:spPr>
        <p:txBody>
          <a:bodyPr wrap="square" lIns="0" tIns="0" rIns="0" bIns="0" rtlCol="0" anchor="ctr"/>
          <a:lstStyle/>
          <a:p>
            <a:pPr indent="0" marL="0">
              <a:buNone/>
            </a:pPr>
            <a:r>
              <a:rPr lang="en-US" sz="2000" b="1" dirty="0">
                <a:solidFill>
                  <a:srgbClr val="0A1931"/>
                </a:solidFill>
                <a:latin typeface="Trebuchet MS" pitchFamily="34" charset="0"/>
                <a:ea typeface="Trebuchet MS" pitchFamily="34" charset="-122"/>
                <a:cs typeface="Trebuchet MS" pitchFamily="34" charset="-120"/>
              </a:rPr>
              <a:t>Comparative Test Set Summary Table</a:t>
            </a:r>
            <a:endParaRPr lang="en-US" sz="2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663440" y="1554480"/>
          <a:ext cx="3931920" cy="3017520"/>
        </p:xfrm>
        <a:graphic>
          <a:graphicData uri="http://schemas.openxmlformats.org/drawingml/2006/table">
            <a:tbl>
              <a:tblPr/>
              <a:tblGrid>
                <a:gridCol w="786384"/>
                <a:gridCol w="786384"/>
                <a:gridCol w="786384"/>
                <a:gridCol w="786384"/>
                <a:gridCol w="786384"/>
              </a:tblGrid>
              <a:tr h="33528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Horizon &amp; Version</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F1-Score</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Precision</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False Alarm (FAR)</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RMSE</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0A1931"/>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5m V1 Baseline</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93.76%</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93.32%</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0.2129%</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0.251°C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5m V2 Tuned</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93.77%</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93.45%</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0.2079%</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0.256°C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15m V1 Baseline</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91.86%</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93.37%</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0.2026%</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0.405°C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15m V2 Tuned</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91.90%</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94.06%</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0.1790%</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0.403°C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30m V1 Baseline</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88.64%</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90.18%</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0.2996%</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0.534°C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30m V2 Tuned</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88.84%</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90.79%</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0.2783%</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0.532°C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60m V1 Baseline</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81.49%</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84.12%</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0.4707%</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0.681°C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r h="335280">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60m V2 Tuned</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81.26%</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84.89%</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0.4376%</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0.685°C</a:t>
                      </a:r>
                      <a:endParaRPr lang="en-US" sz="850" dirty="0">
                        <a:latin typeface="Calibri" charset="0"/>
                        <a:ea typeface="Calibri" charset="0"/>
                        <a:cs typeface="Calibri" charset="0"/>
                      </a:endParaRPr>
                    </a:p>
                  </a:txBody>
                  <a:tcPr marL="91440" marR="91440" marT="45720" marB="45720">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3F4F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931"/>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Conclusion &amp; Next Steps</a:t>
            </a:r>
            <a:endParaRPr lang="en-US" sz="3600" dirty="0"/>
          </a:p>
        </p:txBody>
      </p:sp>
      <p:sp>
        <p:nvSpPr>
          <p:cNvPr id="3" name="Shape 1"/>
          <p:cNvSpPr/>
          <p:nvPr/>
        </p:nvSpPr>
        <p:spPr>
          <a:xfrm>
            <a:off x="548640" y="1463040"/>
            <a:ext cx="2377440" cy="2926080"/>
          </a:xfrm>
          <a:prstGeom prst="rect">
            <a:avLst/>
          </a:prstGeom>
          <a:solidFill>
            <a:srgbClr val="111E38"/>
          </a:solidFill>
          <a:ln w="12700">
            <a:solidFill>
              <a:srgbClr val="0D9488"/>
            </a:solidFill>
            <a:prstDash val="solid"/>
          </a:ln>
        </p:spPr>
      </p:sp>
      <p:sp>
        <p:nvSpPr>
          <p:cNvPr id="4" name="Text 2"/>
          <p:cNvSpPr/>
          <p:nvPr/>
        </p:nvSpPr>
        <p:spPr>
          <a:xfrm>
            <a:off x="640080" y="1645920"/>
            <a:ext cx="2194560" cy="274320"/>
          </a:xfrm>
          <a:prstGeom prst="rect">
            <a:avLst/>
          </a:prstGeom>
          <a:noFill/>
          <a:ln/>
        </p:spPr>
        <p:txBody>
          <a:bodyPr wrap="square" lIns="0" tIns="0" rIns="0" bIns="0" rtlCol="0" anchor="ctr"/>
          <a:lstStyle/>
          <a:p>
            <a:pPr algn="ctr" indent="0" marL="0">
              <a:buNone/>
            </a:pPr>
            <a:r>
              <a:rPr lang="en-US" sz="1200" b="1" dirty="0">
                <a:solidFill>
                  <a:srgbClr val="0D9488"/>
                </a:solidFill>
                <a:latin typeface="Trebuchet MS" pitchFamily="34" charset="0"/>
                <a:ea typeface="Trebuchet MS" pitchFamily="34" charset="-122"/>
                <a:cs typeface="Trebuchet MS" pitchFamily="34" charset="-120"/>
              </a:rPr>
              <a:t>PHASE 1</a:t>
            </a:r>
            <a:endParaRPr lang="en-US" sz="1200" dirty="0"/>
          </a:p>
        </p:txBody>
      </p:sp>
      <p:sp>
        <p:nvSpPr>
          <p:cNvPr id="5" name="Text 3"/>
          <p:cNvSpPr/>
          <p:nvPr/>
        </p:nvSpPr>
        <p:spPr>
          <a:xfrm>
            <a:off x="640080" y="2011680"/>
            <a:ext cx="21945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Operator Simulator</a:t>
            </a:r>
            <a:endParaRPr lang="en-US" sz="1600" dirty="0"/>
          </a:p>
        </p:txBody>
      </p:sp>
      <p:sp>
        <p:nvSpPr>
          <p:cNvPr id="6" name="Text 4"/>
          <p:cNvSpPr/>
          <p:nvPr/>
        </p:nvSpPr>
        <p:spPr>
          <a:xfrm>
            <a:off x="685800" y="2560320"/>
            <a:ext cx="2103120" cy="1645920"/>
          </a:xfrm>
          <a:prstGeom prst="rect">
            <a:avLst/>
          </a:prstGeom>
          <a:noFill/>
          <a:ln/>
        </p:spPr>
        <p:txBody>
          <a:bodyPr wrap="square" lIns="0" tIns="0" rIns="0" bIns="0" rtlCol="0" anchor="ctr"/>
          <a:lstStyle/>
          <a:p>
            <a:pPr algn="l" indent="0" marL="0">
              <a:buNone/>
            </a:pPr>
            <a:r>
              <a:rPr lang="en-US" sz="1200" dirty="0">
                <a:solidFill>
                  <a:srgbClr val="E0F2FE"/>
                </a:solidFill>
                <a:latin typeface="Calibri" pitchFamily="34" charset="0"/>
                <a:ea typeface="Calibri" pitchFamily="34" charset="-122"/>
                <a:cs typeface="Calibri" pitchFamily="34" charset="-120"/>
              </a:rPr>
              <a:t>Deploy the Streamlit real-time simulation tool to train control room operators, establish process workflow, and build user trust.</a:t>
            </a:r>
            <a:endParaRPr lang="en-US" sz="1200" dirty="0"/>
          </a:p>
        </p:txBody>
      </p:sp>
      <p:sp>
        <p:nvSpPr>
          <p:cNvPr id="7" name="Shape 5"/>
          <p:cNvSpPr/>
          <p:nvPr/>
        </p:nvSpPr>
        <p:spPr>
          <a:xfrm>
            <a:off x="3291840" y="1463040"/>
            <a:ext cx="2377440" cy="2926080"/>
          </a:xfrm>
          <a:prstGeom prst="rect">
            <a:avLst/>
          </a:prstGeom>
          <a:solidFill>
            <a:srgbClr val="111E38"/>
          </a:solidFill>
          <a:ln w="12700">
            <a:solidFill>
              <a:srgbClr val="0D9488"/>
            </a:solidFill>
            <a:prstDash val="solid"/>
          </a:ln>
        </p:spPr>
      </p:sp>
      <p:sp>
        <p:nvSpPr>
          <p:cNvPr id="8" name="Text 6"/>
          <p:cNvSpPr/>
          <p:nvPr/>
        </p:nvSpPr>
        <p:spPr>
          <a:xfrm>
            <a:off x="3383280" y="1645920"/>
            <a:ext cx="2194560" cy="274320"/>
          </a:xfrm>
          <a:prstGeom prst="rect">
            <a:avLst/>
          </a:prstGeom>
          <a:noFill/>
          <a:ln/>
        </p:spPr>
        <p:txBody>
          <a:bodyPr wrap="square" lIns="0" tIns="0" rIns="0" bIns="0" rtlCol="0" anchor="ctr"/>
          <a:lstStyle/>
          <a:p>
            <a:pPr algn="ctr" indent="0" marL="0">
              <a:buNone/>
            </a:pPr>
            <a:r>
              <a:rPr lang="en-US" sz="1200" b="1" dirty="0">
                <a:solidFill>
                  <a:srgbClr val="0D9488"/>
                </a:solidFill>
                <a:latin typeface="Trebuchet MS" pitchFamily="34" charset="0"/>
                <a:ea typeface="Trebuchet MS" pitchFamily="34" charset="-122"/>
                <a:cs typeface="Trebuchet MS" pitchFamily="34" charset="-120"/>
              </a:rPr>
              <a:t>PHASE 2</a:t>
            </a:r>
            <a:endParaRPr lang="en-US" sz="1200" dirty="0"/>
          </a:p>
        </p:txBody>
      </p:sp>
      <p:sp>
        <p:nvSpPr>
          <p:cNvPr id="9" name="Text 7"/>
          <p:cNvSpPr/>
          <p:nvPr/>
        </p:nvSpPr>
        <p:spPr>
          <a:xfrm>
            <a:off x="3383280" y="2011680"/>
            <a:ext cx="21945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Historian Connection</a:t>
            </a:r>
            <a:endParaRPr lang="en-US" sz="1600" dirty="0"/>
          </a:p>
        </p:txBody>
      </p:sp>
      <p:sp>
        <p:nvSpPr>
          <p:cNvPr id="10" name="Text 8"/>
          <p:cNvSpPr/>
          <p:nvPr/>
        </p:nvSpPr>
        <p:spPr>
          <a:xfrm>
            <a:off x="3429000" y="2560320"/>
            <a:ext cx="2103120" cy="1645920"/>
          </a:xfrm>
          <a:prstGeom prst="rect">
            <a:avLst/>
          </a:prstGeom>
          <a:noFill/>
          <a:ln/>
        </p:spPr>
        <p:txBody>
          <a:bodyPr wrap="square" lIns="0" tIns="0" rIns="0" bIns="0" rtlCol="0" anchor="ctr"/>
          <a:lstStyle/>
          <a:p>
            <a:pPr algn="l" indent="0" marL="0">
              <a:buNone/>
            </a:pPr>
            <a:r>
              <a:rPr lang="en-US" sz="1200" dirty="0">
                <a:solidFill>
                  <a:srgbClr val="E0F2FE"/>
                </a:solidFill>
                <a:latin typeface="Calibri" pitchFamily="34" charset="0"/>
                <a:ea typeface="Calibri" pitchFamily="34" charset="-122"/>
                <a:cs typeface="Calibri" pitchFamily="34" charset="-120"/>
              </a:rPr>
              <a:t>Integrate model pipeline as a microservice reading OPC UA historian live values (1-minute updates) and compute features in real-time.</a:t>
            </a:r>
            <a:endParaRPr lang="en-US" sz="1200" dirty="0"/>
          </a:p>
        </p:txBody>
      </p:sp>
      <p:sp>
        <p:nvSpPr>
          <p:cNvPr id="11" name="Shape 9"/>
          <p:cNvSpPr/>
          <p:nvPr/>
        </p:nvSpPr>
        <p:spPr>
          <a:xfrm>
            <a:off x="6035040" y="1463040"/>
            <a:ext cx="2377440" cy="2926080"/>
          </a:xfrm>
          <a:prstGeom prst="rect">
            <a:avLst/>
          </a:prstGeom>
          <a:solidFill>
            <a:srgbClr val="111E38"/>
          </a:solidFill>
          <a:ln w="12700">
            <a:solidFill>
              <a:srgbClr val="0D9488"/>
            </a:solidFill>
            <a:prstDash val="solid"/>
          </a:ln>
        </p:spPr>
      </p:sp>
      <p:sp>
        <p:nvSpPr>
          <p:cNvPr id="12" name="Text 10"/>
          <p:cNvSpPr/>
          <p:nvPr/>
        </p:nvSpPr>
        <p:spPr>
          <a:xfrm>
            <a:off x="6126480" y="1645920"/>
            <a:ext cx="2194560" cy="274320"/>
          </a:xfrm>
          <a:prstGeom prst="rect">
            <a:avLst/>
          </a:prstGeom>
          <a:noFill/>
          <a:ln/>
        </p:spPr>
        <p:txBody>
          <a:bodyPr wrap="square" lIns="0" tIns="0" rIns="0" bIns="0" rtlCol="0" anchor="ctr"/>
          <a:lstStyle/>
          <a:p>
            <a:pPr algn="ctr" indent="0" marL="0">
              <a:buNone/>
            </a:pPr>
            <a:r>
              <a:rPr lang="en-US" sz="1200" b="1" dirty="0">
                <a:solidFill>
                  <a:srgbClr val="0D9488"/>
                </a:solidFill>
                <a:latin typeface="Trebuchet MS" pitchFamily="34" charset="0"/>
                <a:ea typeface="Trebuchet MS" pitchFamily="34" charset="-122"/>
                <a:cs typeface="Trebuchet MS" pitchFamily="34" charset="-120"/>
              </a:rPr>
              <a:t>PHASE 3</a:t>
            </a:r>
            <a:endParaRPr lang="en-US" sz="1200" dirty="0"/>
          </a:p>
        </p:txBody>
      </p:sp>
      <p:sp>
        <p:nvSpPr>
          <p:cNvPr id="13" name="Text 11"/>
          <p:cNvSpPr/>
          <p:nvPr/>
        </p:nvSpPr>
        <p:spPr>
          <a:xfrm>
            <a:off x="6126480" y="2011680"/>
            <a:ext cx="21945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Operator UI Alerts</a:t>
            </a:r>
            <a:endParaRPr lang="en-US" sz="1600" dirty="0"/>
          </a:p>
        </p:txBody>
      </p:sp>
      <p:sp>
        <p:nvSpPr>
          <p:cNvPr id="14" name="Text 12"/>
          <p:cNvSpPr/>
          <p:nvPr/>
        </p:nvSpPr>
        <p:spPr>
          <a:xfrm>
            <a:off x="6172200" y="2560320"/>
            <a:ext cx="2103120" cy="1645920"/>
          </a:xfrm>
          <a:prstGeom prst="rect">
            <a:avLst/>
          </a:prstGeom>
          <a:noFill/>
          <a:ln/>
        </p:spPr>
        <p:txBody>
          <a:bodyPr wrap="square" lIns="0" tIns="0" rIns="0" bIns="0" rtlCol="0" anchor="ctr"/>
          <a:lstStyle/>
          <a:p>
            <a:pPr algn="l" indent="0" marL="0">
              <a:buNone/>
            </a:pPr>
            <a:r>
              <a:rPr lang="en-US" sz="1200" dirty="0">
                <a:solidFill>
                  <a:srgbClr val="E0F2FE"/>
                </a:solidFill>
                <a:latin typeface="Calibri" pitchFamily="34" charset="0"/>
                <a:ea typeface="Calibri" pitchFamily="34" charset="-122"/>
                <a:cs typeface="Calibri" pitchFamily="34" charset="-120"/>
              </a:rPr>
              <a:t>Render scrolling forecast trends on the operator console, triggering alerts 5 to 60 minutes before threshold crossing.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Honeywell Temperature Alarm Prediction Model</dc:title>
  <dc:subject>PptxGenJS Presentation</dc:subject>
  <dc:creator>Data Science Team</dc:creator>
  <cp:lastModifiedBy>Data Science Team</cp:lastModifiedBy>
  <cp:revision>1</cp:revision>
  <dcterms:created xsi:type="dcterms:W3CDTF">2026-06-11T19:05:39Z</dcterms:created>
  <dcterms:modified xsi:type="dcterms:W3CDTF">2026-06-11T19:05:39Z</dcterms:modified>
</cp:coreProperties>
</file>